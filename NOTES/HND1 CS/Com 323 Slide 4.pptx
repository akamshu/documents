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0" d="100"/>
          <a:sy n="100" d="100"/>
        </p:scale>
        <p:origin x="-294" y="63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6C17C59-409E-4317-B405-46BFF44F4BB8}" type="datetimeFigureOut">
              <a:rPr lang="en-US" smtClean="0"/>
              <a:t>7/9/2023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A49787-0783-49DE-AB8E-314F3B6C5B7D}" type="slidenum">
              <a:rPr lang="en-US" smtClean="0"/>
              <a:t>‹#›</a:t>
            </a:fld>
            <a:endParaRPr lang="en-US"/>
          </a:p>
        </p:txBody>
      </p:sp>
    </p:spTree>
    <p:extLst>
      <p:ext uri="{BB962C8B-B14F-4D97-AF65-F5344CB8AC3E}">
        <p14:creationId xmlns:p14="http://schemas.microsoft.com/office/powerpoint/2010/main" val="3950281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6C17C59-409E-4317-B405-46BFF44F4BB8}" type="datetimeFigureOut">
              <a:rPr lang="en-US" smtClean="0"/>
              <a:t>7/9/2023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A49787-0783-49DE-AB8E-314F3B6C5B7D}" type="slidenum">
              <a:rPr lang="en-US" smtClean="0"/>
              <a:t>‹#›</a:t>
            </a:fld>
            <a:endParaRPr lang="en-US"/>
          </a:p>
        </p:txBody>
      </p:sp>
    </p:spTree>
    <p:extLst>
      <p:ext uri="{BB962C8B-B14F-4D97-AF65-F5344CB8AC3E}">
        <p14:creationId xmlns:p14="http://schemas.microsoft.com/office/powerpoint/2010/main" val="4184677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6C17C59-409E-4317-B405-46BFF44F4BB8}" type="datetimeFigureOut">
              <a:rPr lang="en-US" smtClean="0"/>
              <a:t>7/9/2023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A49787-0783-49DE-AB8E-314F3B6C5B7D}" type="slidenum">
              <a:rPr lang="en-US" smtClean="0"/>
              <a:t>‹#›</a:t>
            </a:fld>
            <a:endParaRPr lang="en-US"/>
          </a:p>
        </p:txBody>
      </p:sp>
    </p:spTree>
    <p:extLst>
      <p:ext uri="{BB962C8B-B14F-4D97-AF65-F5344CB8AC3E}">
        <p14:creationId xmlns:p14="http://schemas.microsoft.com/office/powerpoint/2010/main" val="57041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6C17C59-409E-4317-B405-46BFF44F4BB8}" type="datetimeFigureOut">
              <a:rPr lang="en-US" smtClean="0"/>
              <a:t>7/9/2023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A49787-0783-49DE-AB8E-314F3B6C5B7D}" type="slidenum">
              <a:rPr lang="en-US" smtClean="0"/>
              <a:t>‹#›</a:t>
            </a:fld>
            <a:endParaRPr lang="en-US"/>
          </a:p>
        </p:txBody>
      </p:sp>
    </p:spTree>
    <p:extLst>
      <p:ext uri="{BB962C8B-B14F-4D97-AF65-F5344CB8AC3E}">
        <p14:creationId xmlns:p14="http://schemas.microsoft.com/office/powerpoint/2010/main" val="3828016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6C17C59-409E-4317-B405-46BFF44F4BB8}" type="datetimeFigureOut">
              <a:rPr lang="en-US" smtClean="0"/>
              <a:t>7/9/2023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A49787-0783-49DE-AB8E-314F3B6C5B7D}" type="slidenum">
              <a:rPr lang="en-US" smtClean="0"/>
              <a:t>‹#›</a:t>
            </a:fld>
            <a:endParaRPr lang="en-US"/>
          </a:p>
        </p:txBody>
      </p:sp>
    </p:spTree>
    <p:extLst>
      <p:ext uri="{BB962C8B-B14F-4D97-AF65-F5344CB8AC3E}">
        <p14:creationId xmlns:p14="http://schemas.microsoft.com/office/powerpoint/2010/main" val="64422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6C17C59-409E-4317-B405-46BFF44F4BB8}" type="datetimeFigureOut">
              <a:rPr lang="en-US" smtClean="0"/>
              <a:t>7/9/2023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A49787-0783-49DE-AB8E-314F3B6C5B7D}" type="slidenum">
              <a:rPr lang="en-US" smtClean="0"/>
              <a:t>‹#›</a:t>
            </a:fld>
            <a:endParaRPr lang="en-US"/>
          </a:p>
        </p:txBody>
      </p:sp>
    </p:spTree>
    <p:extLst>
      <p:ext uri="{BB962C8B-B14F-4D97-AF65-F5344CB8AC3E}">
        <p14:creationId xmlns:p14="http://schemas.microsoft.com/office/powerpoint/2010/main" val="2453768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C17C59-409E-4317-B405-46BFF44F4BB8}" type="datetimeFigureOut">
              <a:rPr lang="en-US" smtClean="0"/>
              <a:t>7/9/2023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A49787-0783-49DE-AB8E-314F3B6C5B7D}" type="slidenum">
              <a:rPr lang="en-US" smtClean="0"/>
              <a:t>‹#›</a:t>
            </a:fld>
            <a:endParaRPr lang="en-US"/>
          </a:p>
        </p:txBody>
      </p:sp>
    </p:spTree>
    <p:extLst>
      <p:ext uri="{BB962C8B-B14F-4D97-AF65-F5344CB8AC3E}">
        <p14:creationId xmlns:p14="http://schemas.microsoft.com/office/powerpoint/2010/main" val="152113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6C17C59-409E-4317-B405-46BFF44F4BB8}" type="datetimeFigureOut">
              <a:rPr lang="en-US" smtClean="0"/>
              <a:t>7/9/2023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A49787-0783-49DE-AB8E-314F3B6C5B7D}" type="slidenum">
              <a:rPr lang="en-US" smtClean="0"/>
              <a:t>‹#›</a:t>
            </a:fld>
            <a:endParaRPr lang="en-US"/>
          </a:p>
        </p:txBody>
      </p:sp>
    </p:spTree>
    <p:extLst>
      <p:ext uri="{BB962C8B-B14F-4D97-AF65-F5344CB8AC3E}">
        <p14:creationId xmlns:p14="http://schemas.microsoft.com/office/powerpoint/2010/main" val="2406840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6C17C59-409E-4317-B405-46BFF44F4BB8}" type="datetimeFigureOut">
              <a:rPr lang="en-US" smtClean="0"/>
              <a:t>7/9/2023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A49787-0783-49DE-AB8E-314F3B6C5B7D}" type="slidenum">
              <a:rPr lang="en-US" smtClean="0"/>
              <a:t>‹#›</a:t>
            </a:fld>
            <a:endParaRPr lang="en-US"/>
          </a:p>
        </p:txBody>
      </p:sp>
    </p:spTree>
    <p:extLst>
      <p:ext uri="{BB962C8B-B14F-4D97-AF65-F5344CB8AC3E}">
        <p14:creationId xmlns:p14="http://schemas.microsoft.com/office/powerpoint/2010/main" val="1149137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6C17C59-409E-4317-B405-46BFF44F4BB8}" type="datetimeFigureOut">
              <a:rPr lang="en-US" smtClean="0"/>
              <a:t>7/9/2023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A49787-0783-49DE-AB8E-314F3B6C5B7D}" type="slidenum">
              <a:rPr lang="en-US" smtClean="0"/>
              <a:t>‹#›</a:t>
            </a:fld>
            <a:endParaRPr lang="en-US"/>
          </a:p>
        </p:txBody>
      </p:sp>
    </p:spTree>
    <p:extLst>
      <p:ext uri="{BB962C8B-B14F-4D97-AF65-F5344CB8AC3E}">
        <p14:creationId xmlns:p14="http://schemas.microsoft.com/office/powerpoint/2010/main" val="1857421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6C17C59-409E-4317-B405-46BFF44F4BB8}" type="datetimeFigureOut">
              <a:rPr lang="en-US" smtClean="0"/>
              <a:t>7/9/2023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A49787-0783-49DE-AB8E-314F3B6C5B7D}" type="slidenum">
              <a:rPr lang="en-US" smtClean="0"/>
              <a:t>‹#›</a:t>
            </a:fld>
            <a:endParaRPr lang="en-US"/>
          </a:p>
        </p:txBody>
      </p:sp>
    </p:spTree>
    <p:extLst>
      <p:ext uri="{BB962C8B-B14F-4D97-AF65-F5344CB8AC3E}">
        <p14:creationId xmlns:p14="http://schemas.microsoft.com/office/powerpoint/2010/main" val="4190079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C17C59-409E-4317-B405-46BFF44F4BB8}" type="datetimeFigureOut">
              <a:rPr lang="en-US" smtClean="0"/>
              <a:t>7/9/2023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A49787-0783-49DE-AB8E-314F3B6C5B7D}" type="slidenum">
              <a:rPr lang="en-US" smtClean="0"/>
              <a:t>‹#›</a:t>
            </a:fld>
            <a:endParaRPr lang="en-US"/>
          </a:p>
        </p:txBody>
      </p:sp>
    </p:spTree>
    <p:extLst>
      <p:ext uri="{BB962C8B-B14F-4D97-AF65-F5344CB8AC3E}">
        <p14:creationId xmlns:p14="http://schemas.microsoft.com/office/powerpoint/2010/main" val="2024840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1"/>
            <a:ext cx="7772400" cy="685799"/>
          </a:xfrm>
        </p:spPr>
        <p:txBody>
          <a:bodyPr>
            <a:normAutofit fontScale="90000"/>
          </a:bodyPr>
          <a:lstStyle/>
          <a:p>
            <a:r>
              <a:rPr lang="en-US" b="1" dirty="0" smtClean="0">
                <a:solidFill>
                  <a:schemeClr val="tx1"/>
                </a:solidFill>
                <a:latin typeface="Times New Roman" pitchFamily="18" charset="0"/>
                <a:cs typeface="Times New Roman" pitchFamily="18" charset="0"/>
              </a:rPr>
              <a:t/>
            </a:r>
            <a:br>
              <a:rPr lang="en-US" b="1" dirty="0" smtClean="0">
                <a:solidFill>
                  <a:schemeClr val="tx1"/>
                </a:solidFill>
                <a:latin typeface="Times New Roman" pitchFamily="18" charset="0"/>
                <a:cs typeface="Times New Roman" pitchFamily="18" charset="0"/>
              </a:rPr>
            </a:br>
            <a:r>
              <a:rPr lang="en-US" sz="3100" b="1" dirty="0" smtClean="0">
                <a:solidFill>
                  <a:schemeClr val="tx1"/>
                </a:solidFill>
                <a:latin typeface="Times New Roman" pitchFamily="18" charset="0"/>
                <a:cs typeface="Times New Roman" pitchFamily="18" charset="0"/>
              </a:rPr>
              <a:t>ASSEMBLING LANGUAGE OVERVIEW </a:t>
            </a:r>
            <a:r>
              <a:rPr lang="en-US" b="1" dirty="0" smtClean="0">
                <a:solidFill>
                  <a:schemeClr val="tx1"/>
                </a:solidFill>
                <a:latin typeface="Times New Roman" pitchFamily="18" charset="0"/>
                <a:cs typeface="Times New Roman" pitchFamily="18" charset="0"/>
              </a:rPr>
              <a:t/>
            </a:r>
            <a:br>
              <a:rPr lang="en-US" b="1" dirty="0" smtClean="0">
                <a:solidFill>
                  <a:schemeClr val="tx1"/>
                </a:solidFill>
                <a:latin typeface="Times New Roman" pitchFamily="18" charset="0"/>
                <a:cs typeface="Times New Roman" pitchFamily="18" charset="0"/>
              </a:rPr>
            </a:br>
            <a:endParaRPr lang="en-US" dirty="0"/>
          </a:p>
        </p:txBody>
      </p:sp>
      <p:sp>
        <p:nvSpPr>
          <p:cNvPr id="3" name="Subtitle 2"/>
          <p:cNvSpPr>
            <a:spLocks noGrp="1"/>
          </p:cNvSpPr>
          <p:nvPr>
            <p:ph type="subTitle" idx="1"/>
          </p:nvPr>
        </p:nvSpPr>
        <p:spPr>
          <a:xfrm>
            <a:off x="228600" y="1219200"/>
            <a:ext cx="8686800" cy="5486400"/>
          </a:xfrm>
        </p:spPr>
        <p:txBody>
          <a:bodyPr>
            <a:normAutofit/>
          </a:bodyPr>
          <a:lstStyle/>
          <a:p>
            <a:pPr marL="457200" indent="-457200" algn="just">
              <a:lnSpc>
                <a:spcPct val="150000"/>
              </a:lnSpc>
              <a:buFont typeface="Wingdings" pitchFamily="2" charset="2"/>
              <a:buChar char="Ø"/>
            </a:pPr>
            <a:r>
              <a:rPr lang="en-US" sz="2000" b="1" dirty="0" smtClean="0">
                <a:solidFill>
                  <a:schemeClr val="tx1"/>
                </a:solidFill>
                <a:latin typeface="Times New Roman" pitchFamily="18" charset="0"/>
                <a:cs typeface="Times New Roman" pitchFamily="18" charset="0"/>
              </a:rPr>
              <a:t>Basic Terms in Assembly Language</a:t>
            </a:r>
            <a:endParaRPr lang="en-US" sz="2000" dirty="0">
              <a:solidFill>
                <a:schemeClr val="tx1"/>
              </a:solidFill>
              <a:latin typeface="Times New Roman" pitchFamily="18" charset="0"/>
              <a:cs typeface="Times New Roman" pitchFamily="18" charset="0"/>
            </a:endParaRPr>
          </a:p>
          <a:p>
            <a:pPr marL="457200" indent="-457200" algn="just">
              <a:lnSpc>
                <a:spcPct val="150000"/>
              </a:lnSpc>
              <a:buFont typeface="Wingdings" pitchFamily="2" charset="2"/>
              <a:buChar char="ü"/>
            </a:pPr>
            <a:r>
              <a:rPr lang="en-US" sz="2000" b="1" dirty="0" smtClean="0">
                <a:solidFill>
                  <a:schemeClr val="tx1"/>
                </a:solidFill>
                <a:latin typeface="Times New Roman" pitchFamily="18" charset="0"/>
                <a:cs typeface="Times New Roman" pitchFamily="18" charset="0"/>
              </a:rPr>
              <a:t>Label</a:t>
            </a:r>
            <a:endParaRPr lang="en-US" sz="2000" b="1" dirty="0">
              <a:solidFill>
                <a:schemeClr val="tx1"/>
              </a:solidFill>
              <a:latin typeface="Times New Roman" pitchFamily="18" charset="0"/>
              <a:cs typeface="Times New Roman" pitchFamily="18" charset="0"/>
            </a:endParaRPr>
          </a:p>
          <a:p>
            <a:pPr marL="342900" indent="-342900" algn="just">
              <a:lnSpc>
                <a:spcPct val="150000"/>
              </a:lnSpc>
              <a:buFont typeface="Arial" pitchFamily="34" charset="0"/>
              <a:buChar char="•"/>
            </a:pPr>
            <a:r>
              <a:rPr lang="en-US" sz="2000" dirty="0">
                <a:solidFill>
                  <a:schemeClr val="tx1"/>
                </a:solidFill>
                <a:latin typeface="Times New Roman" pitchFamily="18" charset="0"/>
                <a:cs typeface="Times New Roman" pitchFamily="18" charset="0"/>
              </a:rPr>
              <a:t>Label is an optional ﬁrst ﬁeld of an assembly statement. Labels are alphanumeric names used to deﬁne the starting location of a block of statements. </a:t>
            </a:r>
            <a:endParaRPr lang="en-US" sz="2000" dirty="0" smtClean="0">
              <a:solidFill>
                <a:schemeClr val="tx1"/>
              </a:solidFill>
              <a:latin typeface="Times New Roman" pitchFamily="18" charset="0"/>
              <a:cs typeface="Times New Roman" pitchFamily="18" charset="0"/>
            </a:endParaRPr>
          </a:p>
          <a:p>
            <a:pPr marL="342900" indent="-342900" algn="just">
              <a:lnSpc>
                <a:spcPct val="150000"/>
              </a:lnSpc>
              <a:buFont typeface="Arial" pitchFamily="34" charset="0"/>
              <a:buChar char="•"/>
            </a:pPr>
            <a:r>
              <a:rPr lang="en-US" sz="2000" dirty="0" smtClean="0">
                <a:solidFill>
                  <a:schemeClr val="tx1"/>
                </a:solidFill>
                <a:latin typeface="Times New Roman" pitchFamily="18" charset="0"/>
                <a:cs typeface="Times New Roman" pitchFamily="18" charset="0"/>
              </a:rPr>
              <a:t>Labels </a:t>
            </a:r>
            <a:r>
              <a:rPr lang="en-US" sz="2000" dirty="0">
                <a:solidFill>
                  <a:schemeClr val="tx1"/>
                </a:solidFill>
                <a:latin typeface="Times New Roman" pitchFamily="18" charset="0"/>
                <a:cs typeface="Times New Roman" pitchFamily="18" charset="0"/>
              </a:rPr>
              <a:t>can be subsequently used in our program as an operand of some other instruction. When creating the executable ﬁle the assembler will replace the label with the assigned value. </a:t>
            </a:r>
            <a:endParaRPr lang="en-US" sz="2000" dirty="0" smtClean="0">
              <a:solidFill>
                <a:schemeClr val="tx1"/>
              </a:solidFill>
              <a:latin typeface="Times New Roman" pitchFamily="18" charset="0"/>
              <a:cs typeface="Times New Roman" pitchFamily="18" charset="0"/>
            </a:endParaRPr>
          </a:p>
          <a:p>
            <a:pPr marL="342900" indent="-342900" algn="just">
              <a:lnSpc>
                <a:spcPct val="150000"/>
              </a:lnSpc>
              <a:buFont typeface="Arial" pitchFamily="34" charset="0"/>
              <a:buChar char="•"/>
            </a:pPr>
            <a:r>
              <a:rPr lang="en-US" sz="2000" dirty="0" smtClean="0">
                <a:solidFill>
                  <a:schemeClr val="tx1"/>
                </a:solidFill>
                <a:latin typeface="Times New Roman" pitchFamily="18" charset="0"/>
                <a:cs typeface="Times New Roman" pitchFamily="18" charset="0"/>
              </a:rPr>
              <a:t>Labels </a:t>
            </a:r>
            <a:r>
              <a:rPr lang="en-US" sz="2000" dirty="0">
                <a:solidFill>
                  <a:schemeClr val="tx1"/>
                </a:solidFill>
                <a:latin typeface="Times New Roman" pitchFamily="18" charset="0"/>
                <a:cs typeface="Times New Roman" pitchFamily="18" charset="0"/>
              </a:rPr>
              <a:t>must be unique in the executable ﬁle because an identical label encountered by the Assembler will generate an error.</a:t>
            </a:r>
          </a:p>
          <a:p>
            <a:pPr algn="just">
              <a:lnSpc>
                <a:spcPct val="150000"/>
              </a:lnSpc>
            </a:pPr>
            <a:endParaRPr lang="en-US"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5646312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228600"/>
            <a:ext cx="8915400" cy="6629400"/>
          </a:xfrm>
        </p:spPr>
        <p:txBody>
          <a:bodyPr>
            <a:normAutofit fontScale="40000" lnSpcReduction="20000"/>
          </a:bodyPr>
          <a:lstStyle/>
          <a:p>
            <a:pPr algn="just">
              <a:lnSpc>
                <a:spcPct val="170000"/>
              </a:lnSpc>
              <a:buFont typeface="Wingdings" pitchFamily="2" charset="2"/>
              <a:buChar char="ü"/>
            </a:pPr>
            <a:r>
              <a:rPr lang="en-US" b="1" dirty="0" err="1">
                <a:latin typeface="Times New Roman" pitchFamily="18" charset="0"/>
                <a:cs typeface="Times New Roman" pitchFamily="18" charset="0"/>
              </a:rPr>
              <a:t>Opcode</a:t>
            </a:r>
            <a:r>
              <a:rPr lang="en-US" b="1" dirty="0">
                <a:latin typeface="Times New Roman" pitchFamily="18" charset="0"/>
                <a:cs typeface="Times New Roman" pitchFamily="18" charset="0"/>
              </a:rPr>
              <a:t> (Mnemonics)</a:t>
            </a:r>
          </a:p>
          <a:p>
            <a:pPr algn="just">
              <a:lnSpc>
                <a:spcPct val="170000"/>
              </a:lnSpc>
            </a:pPr>
            <a:r>
              <a:rPr lang="en-US" sz="4200" dirty="0" err="1">
                <a:latin typeface="Times New Roman" pitchFamily="18" charset="0"/>
                <a:cs typeface="Times New Roman" pitchFamily="18" charset="0"/>
              </a:rPr>
              <a:t>Opcode</a:t>
            </a:r>
            <a:r>
              <a:rPr lang="en-US" sz="4200" dirty="0">
                <a:latin typeface="Times New Roman" pitchFamily="18" charset="0"/>
                <a:cs typeface="Times New Roman" pitchFamily="18" charset="0"/>
              </a:rPr>
              <a:t> is the second ﬁeld in assembly language instruction. Assembly language consists of mnemonics, each corresponding to a machine instruction. </a:t>
            </a:r>
            <a:endParaRPr lang="en-US" sz="4200" dirty="0" smtClean="0">
              <a:latin typeface="Times New Roman" pitchFamily="18" charset="0"/>
              <a:cs typeface="Times New Roman" pitchFamily="18" charset="0"/>
            </a:endParaRPr>
          </a:p>
          <a:p>
            <a:pPr algn="just">
              <a:lnSpc>
                <a:spcPct val="170000"/>
              </a:lnSpc>
            </a:pPr>
            <a:endParaRPr lang="en-US" sz="4200" dirty="0">
              <a:latin typeface="Times New Roman" pitchFamily="18" charset="0"/>
              <a:cs typeface="Times New Roman" pitchFamily="18" charset="0"/>
            </a:endParaRPr>
          </a:p>
          <a:p>
            <a:pPr algn="just">
              <a:lnSpc>
                <a:spcPct val="170000"/>
              </a:lnSpc>
            </a:pPr>
            <a:r>
              <a:rPr lang="en-US" sz="4200" dirty="0" smtClean="0">
                <a:latin typeface="Times New Roman" pitchFamily="18" charset="0"/>
                <a:cs typeface="Times New Roman" pitchFamily="18" charset="0"/>
              </a:rPr>
              <a:t>Using </a:t>
            </a:r>
            <a:r>
              <a:rPr lang="en-US" sz="4200" dirty="0">
                <a:latin typeface="Times New Roman" pitchFamily="18" charset="0"/>
                <a:cs typeface="Times New Roman" pitchFamily="18" charset="0"/>
              </a:rPr>
              <a:t>a mnemonic you can decide what operation you want to perform on the operands. Assembler must translate each mnemonic </a:t>
            </a:r>
            <a:r>
              <a:rPr lang="en-US" sz="4200" dirty="0" err="1">
                <a:latin typeface="Times New Roman" pitchFamily="18" charset="0"/>
                <a:cs typeface="Times New Roman" pitchFamily="18" charset="0"/>
              </a:rPr>
              <a:t>opcode</a:t>
            </a:r>
            <a:r>
              <a:rPr lang="en-US" sz="4200" dirty="0">
                <a:latin typeface="Times New Roman" pitchFamily="18" charset="0"/>
                <a:cs typeface="Times New Roman" pitchFamily="18" charset="0"/>
              </a:rPr>
              <a:t> into their binary equivalent.</a:t>
            </a:r>
          </a:p>
          <a:p>
            <a:pPr algn="just">
              <a:lnSpc>
                <a:spcPct val="170000"/>
              </a:lnSpc>
            </a:pPr>
            <a:endParaRPr lang="en-US" sz="4200" dirty="0" smtClean="0">
              <a:latin typeface="Times New Roman" pitchFamily="18" charset="0"/>
              <a:cs typeface="Times New Roman" pitchFamily="18" charset="0"/>
            </a:endParaRPr>
          </a:p>
          <a:p>
            <a:pPr algn="just">
              <a:lnSpc>
                <a:spcPct val="170000"/>
              </a:lnSpc>
            </a:pPr>
            <a:r>
              <a:rPr lang="en-US" sz="4200" dirty="0" smtClean="0">
                <a:latin typeface="Times New Roman" pitchFamily="18" charset="0"/>
                <a:cs typeface="Times New Roman" pitchFamily="18" charset="0"/>
              </a:rPr>
              <a:t>In </a:t>
            </a:r>
            <a:r>
              <a:rPr lang="en-US" sz="4200" dirty="0">
                <a:latin typeface="Times New Roman" pitchFamily="18" charset="0"/>
                <a:cs typeface="Times New Roman" pitchFamily="18" charset="0"/>
              </a:rPr>
              <a:t>assembly language mnemonic form an </a:t>
            </a:r>
            <a:r>
              <a:rPr lang="en-US" sz="4200" dirty="0" err="1">
                <a:latin typeface="Times New Roman" pitchFamily="18" charset="0"/>
                <a:cs typeface="Times New Roman" pitchFamily="18" charset="0"/>
              </a:rPr>
              <a:t>opcode</a:t>
            </a:r>
            <a:r>
              <a:rPr lang="en-US" sz="4200" dirty="0">
                <a:latin typeface="Times New Roman" pitchFamily="18" charset="0"/>
                <a:cs typeface="Times New Roman" pitchFamily="18" charset="0"/>
              </a:rPr>
              <a:t> is a command such as </a:t>
            </a:r>
            <a:r>
              <a:rPr lang="en-US" sz="4200" dirty="0" smtClean="0">
                <a:latin typeface="Times New Roman" pitchFamily="18" charset="0"/>
                <a:cs typeface="Times New Roman" pitchFamily="18" charset="0"/>
              </a:rPr>
              <a:t>MOV or </a:t>
            </a:r>
            <a:r>
              <a:rPr lang="en-US" sz="4200" dirty="0">
                <a:latin typeface="Times New Roman" pitchFamily="18" charset="0"/>
                <a:cs typeface="Times New Roman" pitchFamily="18" charset="0"/>
              </a:rPr>
              <a:t>ADD or JMP.</a:t>
            </a:r>
          </a:p>
          <a:p>
            <a:pPr algn="just">
              <a:lnSpc>
                <a:spcPct val="170000"/>
              </a:lnSpc>
            </a:pPr>
            <a:r>
              <a:rPr lang="en-US" sz="4200" dirty="0">
                <a:latin typeface="Times New Roman" pitchFamily="18" charset="0"/>
                <a:cs typeface="Times New Roman" pitchFamily="18" charset="0"/>
              </a:rPr>
              <a:t>For example	</a:t>
            </a:r>
          </a:p>
          <a:p>
            <a:pPr algn="just">
              <a:lnSpc>
                <a:spcPct val="170000"/>
              </a:lnSpc>
            </a:pPr>
            <a:r>
              <a:rPr lang="en-US" sz="4200" dirty="0">
                <a:latin typeface="Times New Roman" pitchFamily="18" charset="0"/>
                <a:cs typeface="Times New Roman" pitchFamily="18" charset="0"/>
              </a:rPr>
              <a:t>MOV AL, 34h</a:t>
            </a:r>
          </a:p>
          <a:p>
            <a:pPr algn="just">
              <a:lnSpc>
                <a:spcPct val="170000"/>
              </a:lnSpc>
            </a:pPr>
            <a:r>
              <a:rPr lang="en-US" sz="4200" dirty="0">
                <a:latin typeface="Times New Roman" pitchFamily="18" charset="0"/>
                <a:cs typeface="Times New Roman" pitchFamily="18" charset="0"/>
              </a:rPr>
              <a:t>The </a:t>
            </a:r>
            <a:r>
              <a:rPr lang="en-US" sz="4200" dirty="0" err="1">
                <a:latin typeface="Times New Roman" pitchFamily="18" charset="0"/>
                <a:cs typeface="Times New Roman" pitchFamily="18" charset="0"/>
              </a:rPr>
              <a:t>opcode</a:t>
            </a:r>
            <a:r>
              <a:rPr lang="en-US" sz="4200" dirty="0">
                <a:latin typeface="Times New Roman" pitchFamily="18" charset="0"/>
                <a:cs typeface="Times New Roman" pitchFamily="18" charset="0"/>
              </a:rPr>
              <a:t> is the MOV instruction. The other parts are called the 'operands'.</a:t>
            </a:r>
          </a:p>
          <a:p>
            <a:pPr algn="just">
              <a:lnSpc>
                <a:spcPct val="170000"/>
              </a:lnSpc>
            </a:pPr>
            <a:endParaRPr lang="en-US" sz="4200" dirty="0" smtClean="0">
              <a:latin typeface="Times New Roman" pitchFamily="18" charset="0"/>
              <a:cs typeface="Times New Roman" pitchFamily="18" charset="0"/>
            </a:endParaRPr>
          </a:p>
          <a:p>
            <a:pPr algn="just">
              <a:lnSpc>
                <a:spcPct val="170000"/>
              </a:lnSpc>
            </a:pPr>
            <a:r>
              <a:rPr lang="en-US" sz="4200" dirty="0" smtClean="0">
                <a:latin typeface="Times New Roman" pitchFamily="18" charset="0"/>
                <a:cs typeface="Times New Roman" pitchFamily="18" charset="0"/>
              </a:rPr>
              <a:t>Operands </a:t>
            </a:r>
            <a:r>
              <a:rPr lang="en-US" sz="4200" dirty="0">
                <a:latin typeface="Times New Roman" pitchFamily="18" charset="0"/>
                <a:cs typeface="Times New Roman" pitchFamily="18" charset="0"/>
              </a:rPr>
              <a:t>are manipulated by the </a:t>
            </a:r>
            <a:r>
              <a:rPr lang="en-US" sz="4200" dirty="0" err="1">
                <a:latin typeface="Times New Roman" pitchFamily="18" charset="0"/>
                <a:cs typeface="Times New Roman" pitchFamily="18" charset="0"/>
              </a:rPr>
              <a:t>opcode</a:t>
            </a:r>
            <a:r>
              <a:rPr lang="en-US" sz="4200" dirty="0">
                <a:latin typeface="Times New Roman" pitchFamily="18" charset="0"/>
                <a:cs typeface="Times New Roman" pitchFamily="18" charset="0"/>
              </a:rPr>
              <a:t>. In this example, the operands are the register named AL and the value 34 hex.</a:t>
            </a:r>
          </a:p>
          <a:p>
            <a:pPr algn="just">
              <a:lnSpc>
                <a:spcPct val="170000"/>
              </a:lnSpc>
            </a:pPr>
            <a:r>
              <a:rPr lang="en-US" sz="4200" dirty="0">
                <a:latin typeface="Times New Roman" pitchFamily="18" charset="0"/>
                <a:cs typeface="Times New Roman" pitchFamily="18" charset="0"/>
              </a:rPr>
              <a:t> </a:t>
            </a:r>
          </a:p>
          <a:p>
            <a:pPr marL="0" indent="0" algn="just">
              <a:lnSpc>
                <a:spcPct val="170000"/>
              </a:lnSpc>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41263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76200"/>
            <a:ext cx="8991600" cy="6705600"/>
          </a:xfrm>
        </p:spPr>
        <p:txBody>
          <a:bodyPr>
            <a:normAutofit/>
          </a:bodyPr>
          <a:lstStyle/>
          <a:p>
            <a:pPr algn="just">
              <a:buFont typeface="Wingdings" pitchFamily="2" charset="2"/>
              <a:buChar char="ü"/>
            </a:pPr>
            <a:r>
              <a:rPr lang="en-US" sz="2000" b="1" dirty="0">
                <a:latin typeface="Times New Roman" pitchFamily="18" charset="0"/>
                <a:cs typeface="Times New Roman" pitchFamily="18" charset="0"/>
              </a:rPr>
              <a:t>Operands</a:t>
            </a:r>
          </a:p>
          <a:p>
            <a:pPr algn="just">
              <a:lnSpc>
                <a:spcPct val="150000"/>
              </a:lnSpc>
            </a:pPr>
            <a:r>
              <a:rPr lang="en-US" sz="2000" dirty="0">
                <a:latin typeface="Times New Roman" pitchFamily="18" charset="0"/>
                <a:cs typeface="Times New Roman" pitchFamily="18" charset="0"/>
              </a:rPr>
              <a:t>Next to the </a:t>
            </a:r>
            <a:r>
              <a:rPr lang="en-US" sz="2000" dirty="0" err="1">
                <a:latin typeface="Times New Roman" pitchFamily="18" charset="0"/>
                <a:cs typeface="Times New Roman" pitchFamily="18" charset="0"/>
              </a:rPr>
              <a:t>opcode</a:t>
            </a:r>
            <a:r>
              <a:rPr lang="en-US" sz="2000" dirty="0">
                <a:latin typeface="Times New Roman" pitchFamily="18" charset="0"/>
                <a:cs typeface="Times New Roman" pitchFamily="18" charset="0"/>
              </a:rPr>
              <a:t> is the operand ﬁeld which might contain diﬀerent number of operands. Some of the instructions in Cortex-M3 will have no operand while other might have as many as four operands. </a:t>
            </a:r>
            <a:endParaRPr lang="en-US" sz="2000" dirty="0" smtClean="0">
              <a:latin typeface="Times New Roman" pitchFamily="18" charset="0"/>
              <a:cs typeface="Times New Roman" pitchFamily="18" charset="0"/>
            </a:endParaRPr>
          </a:p>
          <a:p>
            <a:pPr algn="just">
              <a:lnSpc>
                <a:spcPct val="150000"/>
              </a:lnSpc>
            </a:pPr>
            <a:endParaRPr lang="en-US" sz="2000" dirty="0">
              <a:latin typeface="Times New Roman" pitchFamily="18" charset="0"/>
              <a:cs typeface="Times New Roman" pitchFamily="18" charset="0"/>
            </a:endParaRPr>
          </a:p>
          <a:p>
            <a:pPr algn="just">
              <a:lnSpc>
                <a:spcPct val="150000"/>
              </a:lnSpc>
            </a:pPr>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number of operands in an instruction depends on the type of instruction, and the syntax format of the operand can also be diﬀerent. Normally, the ﬁrst operand is the destination of the operation.</a:t>
            </a:r>
          </a:p>
          <a:p>
            <a:pPr algn="just">
              <a:lnSpc>
                <a:spcPct val="150000"/>
              </a:lnSpc>
            </a:pPr>
            <a:endParaRPr lang="en-US" sz="2000" dirty="0" smtClean="0">
              <a:latin typeface="Times New Roman" pitchFamily="18" charset="0"/>
              <a:cs typeface="Times New Roman" pitchFamily="18" charset="0"/>
            </a:endParaRPr>
          </a:p>
          <a:p>
            <a:pPr algn="just">
              <a:lnSpc>
                <a:spcPct val="150000"/>
              </a:lnSpc>
            </a:pPr>
            <a:r>
              <a:rPr lang="en-US" sz="2000" dirty="0" smtClean="0">
                <a:latin typeface="Times New Roman" pitchFamily="18" charset="0"/>
                <a:cs typeface="Times New Roman" pitchFamily="18" charset="0"/>
              </a:rPr>
              <a:t>In </a:t>
            </a:r>
            <a:r>
              <a:rPr lang="en-US" sz="2000" dirty="0">
                <a:latin typeface="Times New Roman" pitchFamily="18" charset="0"/>
                <a:cs typeface="Times New Roman" pitchFamily="18" charset="0"/>
              </a:rPr>
              <a:t>assembly language mnemonic form an </a:t>
            </a:r>
            <a:r>
              <a:rPr lang="en-US" sz="2000" dirty="0" err="1">
                <a:latin typeface="Times New Roman" pitchFamily="18" charset="0"/>
                <a:cs typeface="Times New Roman" pitchFamily="18" charset="0"/>
              </a:rPr>
              <a:t>opcode</a:t>
            </a:r>
            <a:r>
              <a:rPr lang="en-US" sz="2000" dirty="0">
                <a:latin typeface="Times New Roman" pitchFamily="18" charset="0"/>
                <a:cs typeface="Times New Roman" pitchFamily="18" charset="0"/>
              </a:rPr>
              <a:t> is a command such as MOV or ADD or JMP.</a:t>
            </a:r>
          </a:p>
          <a:p>
            <a:pPr algn="just">
              <a:lnSpc>
                <a:spcPct val="150000"/>
              </a:lnSpc>
            </a:pPr>
            <a:r>
              <a:rPr lang="en-US" sz="2000" dirty="0">
                <a:latin typeface="Times New Roman" pitchFamily="18" charset="0"/>
                <a:cs typeface="Times New Roman" pitchFamily="18" charset="0"/>
              </a:rPr>
              <a:t>For example	</a:t>
            </a:r>
          </a:p>
          <a:p>
            <a:pPr marL="0" indent="0" algn="just">
              <a:lnSpc>
                <a:spcPct val="150000"/>
              </a:lnSpc>
              <a:buNone/>
            </a:pPr>
            <a:r>
              <a:rPr lang="en-US" sz="2000" dirty="0">
                <a:latin typeface="Times New Roman" pitchFamily="18" charset="0"/>
                <a:cs typeface="Times New Roman" pitchFamily="18" charset="0"/>
              </a:rPr>
              <a:t>MOV AL, 34h</a:t>
            </a:r>
          </a:p>
          <a:p>
            <a:pPr marL="0" indent="0" algn="just">
              <a:buNone/>
            </a:pPr>
            <a:endParaRPr lang="en-US" sz="2000" dirty="0"/>
          </a:p>
        </p:txBody>
      </p:sp>
    </p:spTree>
    <p:extLst>
      <p:ext uri="{BB962C8B-B14F-4D97-AF65-F5344CB8AC3E}">
        <p14:creationId xmlns:p14="http://schemas.microsoft.com/office/powerpoint/2010/main" val="22661522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52400"/>
            <a:ext cx="8991600" cy="6553200"/>
          </a:xfrm>
        </p:spPr>
        <p:txBody>
          <a:bodyPr>
            <a:normAutofit/>
          </a:bodyPr>
          <a:lstStyle/>
          <a:p>
            <a:pPr algn="just">
              <a:lnSpc>
                <a:spcPct val="150000"/>
              </a:lnSpc>
              <a:buFont typeface="Wingdings" pitchFamily="2" charset="2"/>
              <a:buChar char="ü"/>
            </a:pPr>
            <a:r>
              <a:rPr lang="en-US" sz="2000" b="1" dirty="0">
                <a:latin typeface="Times New Roman" pitchFamily="18" charset="0"/>
                <a:cs typeface="Times New Roman" pitchFamily="18" charset="0"/>
              </a:rPr>
              <a:t>Comments</a:t>
            </a:r>
          </a:p>
          <a:p>
            <a:pPr algn="just">
              <a:lnSpc>
                <a:spcPct val="150000"/>
              </a:lnSpc>
            </a:pPr>
            <a:r>
              <a:rPr lang="en-US" sz="2000" dirty="0">
                <a:latin typeface="Times New Roman" pitchFamily="18" charset="0"/>
                <a:cs typeface="Times New Roman" pitchFamily="18" charset="0"/>
              </a:rPr>
              <a:t>Comments are messages intended only for human consumption. They have no eﬀect on the translation process and indeed are not acted on by the Assembler. </a:t>
            </a:r>
            <a:endParaRPr lang="en-US" sz="2000" dirty="0" smtClean="0">
              <a:latin typeface="Times New Roman" pitchFamily="18" charset="0"/>
              <a:cs typeface="Times New Roman" pitchFamily="18" charset="0"/>
            </a:endParaRPr>
          </a:p>
          <a:p>
            <a:pPr marL="0" indent="0" algn="just">
              <a:lnSpc>
                <a:spcPct val="150000"/>
              </a:lnSpc>
              <a:buNone/>
            </a:pPr>
            <a:endParaRPr lang="en-US" sz="2000" dirty="0" smtClean="0">
              <a:latin typeface="Times New Roman" pitchFamily="18" charset="0"/>
              <a:cs typeface="Times New Roman" pitchFamily="18" charset="0"/>
            </a:endParaRPr>
          </a:p>
          <a:p>
            <a:pPr algn="just">
              <a:lnSpc>
                <a:spcPct val="150000"/>
              </a:lnSpc>
            </a:pPr>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comment ﬁeld of an assembly language instruction is also optional. A semicolon signifies that the rest of the line is a comment and is to be ignored by the assembler. </a:t>
            </a:r>
            <a:endParaRPr lang="en-US" sz="2000" dirty="0" smtClean="0">
              <a:latin typeface="Times New Roman" pitchFamily="18" charset="0"/>
              <a:cs typeface="Times New Roman" pitchFamily="18" charset="0"/>
            </a:endParaRPr>
          </a:p>
          <a:p>
            <a:pPr algn="just">
              <a:lnSpc>
                <a:spcPct val="150000"/>
              </a:lnSpc>
            </a:pPr>
            <a:endParaRPr lang="en-US" sz="2000" dirty="0">
              <a:latin typeface="Times New Roman" pitchFamily="18" charset="0"/>
              <a:cs typeface="Times New Roman" pitchFamily="18" charset="0"/>
            </a:endParaRPr>
          </a:p>
          <a:p>
            <a:pPr algn="just">
              <a:lnSpc>
                <a:spcPct val="150000"/>
              </a:lnSpc>
            </a:pPr>
            <a:r>
              <a:rPr lang="en-US" sz="2000" dirty="0" smtClean="0">
                <a:latin typeface="Times New Roman" pitchFamily="18" charset="0"/>
                <a:cs typeface="Times New Roman" pitchFamily="18" charset="0"/>
              </a:rPr>
              <a:t>Following </a:t>
            </a:r>
            <a:r>
              <a:rPr lang="en-US" sz="2000" dirty="0">
                <a:latin typeface="Times New Roman" pitchFamily="18" charset="0"/>
                <a:cs typeface="Times New Roman" pitchFamily="18" charset="0"/>
              </a:rPr>
              <a:t>are some examples of typical assembly language statements with comments:</a:t>
            </a:r>
          </a:p>
          <a:p>
            <a:pPr marL="0" indent="0" algn="just">
              <a:lnSpc>
                <a:spcPct val="150000"/>
              </a:lnSpc>
              <a:buNone/>
            </a:pPr>
            <a:r>
              <a:rPr lang="en-US" sz="2000" dirty="0" smtClean="0">
                <a:latin typeface="Times New Roman" pitchFamily="18" charset="0"/>
                <a:cs typeface="Times New Roman" pitchFamily="18" charset="0"/>
              </a:rPr>
              <a:t> INC </a:t>
            </a:r>
            <a:r>
              <a:rPr lang="en-US" sz="2000" dirty="0">
                <a:latin typeface="Times New Roman" pitchFamily="18" charset="0"/>
                <a:cs typeface="Times New Roman" pitchFamily="18" charset="0"/>
              </a:rPr>
              <a:t>COUNT 		; Increment the memory variable COUNT</a:t>
            </a:r>
          </a:p>
          <a:p>
            <a:pPr marL="0" indent="0" algn="just">
              <a:lnSpc>
                <a:spcPct val="150000"/>
              </a:lnSpc>
              <a:buNone/>
            </a:pPr>
            <a:r>
              <a:rPr lang="en-US" sz="2000" dirty="0" smtClean="0">
                <a:latin typeface="Times New Roman" pitchFamily="18" charset="0"/>
                <a:cs typeface="Times New Roman" pitchFamily="18" charset="0"/>
              </a:rPr>
              <a:t> MOV </a:t>
            </a:r>
            <a:r>
              <a:rPr lang="en-US" sz="2000" dirty="0">
                <a:latin typeface="Times New Roman" pitchFamily="18" charset="0"/>
                <a:cs typeface="Times New Roman" pitchFamily="18" charset="0"/>
              </a:rPr>
              <a:t>TOTAL, 48 	; Transfer the value 48 in the </a:t>
            </a:r>
          </a:p>
          <a:p>
            <a:pPr marL="0" indent="0" algn="just">
              <a:lnSpc>
                <a:spcPct val="150000"/>
              </a:lnSpc>
              <a:buNone/>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41779595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a:bodyPr>
          <a:lstStyle/>
          <a:p>
            <a:r>
              <a:rPr lang="en-US" sz="2800" b="1" dirty="0" smtClean="0">
                <a:latin typeface="Times New Roman" pitchFamily="18" charset="0"/>
                <a:cs typeface="Times New Roman" pitchFamily="18" charset="0"/>
              </a:rPr>
              <a:t>ASSEMBLY LANGUAGE PROGRAM LAYOUT</a:t>
            </a:r>
            <a:endParaRPr lang="en-US" sz="2800" dirty="0">
              <a:latin typeface="Times New Roman" pitchFamily="18" charset="0"/>
              <a:cs typeface="Times New Roman" pitchFamily="18" charset="0"/>
            </a:endParaRPr>
          </a:p>
        </p:txBody>
      </p:sp>
      <p:pic>
        <p:nvPicPr>
          <p:cNvPr id="4" name="Content Placeholder 3"/>
          <p:cNvPicPr>
            <a:picLocks noGrp="1"/>
          </p:cNvPicPr>
          <p:nvPr>
            <p:ph idx="1"/>
          </p:nvPr>
        </p:nvPicPr>
        <p:blipFill rotWithShape="1">
          <a:blip r:embed="rId2">
            <a:extLst>
              <a:ext uri="{28A0092B-C50C-407E-A947-70E740481C1C}">
                <a14:useLocalDpi xmlns:a14="http://schemas.microsoft.com/office/drawing/2010/main" val="0"/>
              </a:ext>
            </a:extLst>
          </a:blip>
          <a:srcRect l="31232" t="22480" r="15165" b="36951"/>
          <a:stretch/>
        </p:blipFill>
        <p:spPr bwMode="auto">
          <a:xfrm>
            <a:off x="0" y="1295400"/>
            <a:ext cx="8915400" cy="405163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439931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52400"/>
            <a:ext cx="8991600" cy="6629400"/>
          </a:xfrm>
        </p:spPr>
        <p:txBody>
          <a:bodyPr>
            <a:noAutofit/>
          </a:bodyPr>
          <a:lstStyle/>
          <a:p>
            <a:pPr>
              <a:buFont typeface="Wingdings" pitchFamily="2" charset="2"/>
              <a:buChar char="Ø"/>
            </a:pPr>
            <a:r>
              <a:rPr lang="en-US" sz="2000" b="1" dirty="0">
                <a:latin typeface="Times New Roman" pitchFamily="18" charset="0"/>
                <a:cs typeface="Times New Roman" pitchFamily="18" charset="0"/>
              </a:rPr>
              <a:t>CPU Registers</a:t>
            </a:r>
            <a:endParaRPr lang="en-US" sz="2000" dirty="0">
              <a:latin typeface="Times New Roman" pitchFamily="18" charset="0"/>
              <a:cs typeface="Times New Roman" pitchFamily="18" charset="0"/>
            </a:endParaRPr>
          </a:p>
          <a:p>
            <a:pPr algn="just">
              <a:lnSpc>
                <a:spcPct val="170000"/>
              </a:lnSpc>
              <a:buFont typeface="Wingdings" pitchFamily="2" charset="2"/>
              <a:buChar char="ü"/>
            </a:pPr>
            <a:r>
              <a:rPr lang="en-US" sz="2000" dirty="0">
                <a:latin typeface="Times New Roman" pitchFamily="18" charset="0"/>
                <a:cs typeface="Times New Roman" pitchFamily="18" charset="0"/>
              </a:rPr>
              <a:t>Registers are special memory locations on the CPU. At this point, we'll assume the reader is programming for computers using 386 or later processors. </a:t>
            </a:r>
            <a:endParaRPr lang="en-US" sz="2000" dirty="0" smtClean="0">
              <a:latin typeface="Times New Roman" pitchFamily="18" charset="0"/>
              <a:cs typeface="Times New Roman" pitchFamily="18" charset="0"/>
            </a:endParaRPr>
          </a:p>
          <a:p>
            <a:pPr algn="just">
              <a:lnSpc>
                <a:spcPct val="170000"/>
              </a:lnSpc>
              <a:buFont typeface="Wingdings" pitchFamily="2" charset="2"/>
              <a:buChar char="ü"/>
            </a:pPr>
            <a:endParaRPr lang="en-US" sz="2000" dirty="0">
              <a:latin typeface="Times New Roman" pitchFamily="18" charset="0"/>
              <a:cs typeface="Times New Roman" pitchFamily="18" charset="0"/>
            </a:endParaRPr>
          </a:p>
          <a:p>
            <a:pPr algn="just">
              <a:lnSpc>
                <a:spcPct val="170000"/>
              </a:lnSpc>
              <a:buFont typeface="Wingdings" pitchFamily="2" charset="2"/>
              <a:buChar char="ü"/>
            </a:pPr>
            <a:r>
              <a:rPr lang="en-US" sz="2000" dirty="0" smtClean="0">
                <a:latin typeface="Times New Roman" pitchFamily="18" charset="0"/>
                <a:cs typeface="Times New Roman" pitchFamily="18" charset="0"/>
              </a:rPr>
              <a:t>Older </a:t>
            </a:r>
            <a:r>
              <a:rPr lang="en-US" sz="2000" dirty="0">
                <a:latin typeface="Times New Roman" pitchFamily="18" charset="0"/>
                <a:cs typeface="Times New Roman" pitchFamily="18" charset="0"/>
              </a:rPr>
              <a:t>processors are very rare at this time, so it would be a waste of time to learn about them. One important difference between older and later processors is that the pre-386 processors are 16-bit instead of 32-bit.</a:t>
            </a:r>
          </a:p>
          <a:p>
            <a:pPr algn="just">
              <a:lnSpc>
                <a:spcPct val="170000"/>
              </a:lnSpc>
              <a:buFont typeface="Wingdings" pitchFamily="2" charset="2"/>
              <a:buChar char="ü"/>
            </a:pPr>
            <a:endParaRPr lang="en-US" sz="2000" dirty="0" smtClean="0">
              <a:latin typeface="Times New Roman" pitchFamily="18" charset="0"/>
              <a:cs typeface="Times New Roman" pitchFamily="18" charset="0"/>
            </a:endParaRPr>
          </a:p>
          <a:p>
            <a:pPr algn="just">
              <a:lnSpc>
                <a:spcPct val="170000"/>
              </a:lnSpc>
              <a:buFont typeface="Wingdings" pitchFamily="2" charset="2"/>
              <a:buChar char="ü"/>
            </a:pPr>
            <a:r>
              <a:rPr lang="en-US" sz="2000" dirty="0" smtClean="0">
                <a:latin typeface="Times New Roman" pitchFamily="18" charset="0"/>
                <a:cs typeface="Times New Roman" pitchFamily="18" charset="0"/>
              </a:rPr>
              <a:t>There </a:t>
            </a:r>
            <a:r>
              <a:rPr lang="en-US" sz="2000" dirty="0">
                <a:latin typeface="Times New Roman" pitchFamily="18" charset="0"/>
                <a:cs typeface="Times New Roman" pitchFamily="18" charset="0"/>
              </a:rPr>
              <a:t>are 8 32-bit general purpose registers. The first 4, </a:t>
            </a:r>
            <a:r>
              <a:rPr lang="en-US" sz="2000" dirty="0" err="1">
                <a:latin typeface="Times New Roman" pitchFamily="18" charset="0"/>
                <a:cs typeface="Times New Roman" pitchFamily="18" charset="0"/>
              </a:rPr>
              <a:t>eax</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ebx</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ecx</a:t>
            </a:r>
            <a:r>
              <a:rPr lang="en-US" sz="2000" dirty="0">
                <a:latin typeface="Times New Roman" pitchFamily="18" charset="0"/>
                <a:cs typeface="Times New Roman" pitchFamily="18" charset="0"/>
              </a:rPr>
              <a:t>, and </a:t>
            </a:r>
            <a:r>
              <a:rPr lang="en-US" sz="2000" dirty="0" err="1">
                <a:latin typeface="Times New Roman" pitchFamily="18" charset="0"/>
                <a:cs typeface="Times New Roman" pitchFamily="18" charset="0"/>
              </a:rPr>
              <a:t>edx</a:t>
            </a:r>
            <a:r>
              <a:rPr lang="en-US" sz="2000" dirty="0">
                <a:latin typeface="Times New Roman" pitchFamily="18" charset="0"/>
                <a:cs typeface="Times New Roman" pitchFamily="18" charset="0"/>
              </a:rPr>
              <a:t> can also be accessed using 16 or 8-bit names. ax gets the first 16 bits of </a:t>
            </a:r>
            <a:r>
              <a:rPr lang="en-US" sz="2000" dirty="0" err="1">
                <a:latin typeface="Times New Roman" pitchFamily="18" charset="0"/>
                <a:cs typeface="Times New Roman" pitchFamily="18" charset="0"/>
              </a:rPr>
              <a:t>eax</a:t>
            </a:r>
            <a:r>
              <a:rPr lang="en-US" sz="2000" dirty="0">
                <a:latin typeface="Times New Roman" pitchFamily="18" charset="0"/>
                <a:cs typeface="Times New Roman" pitchFamily="18" charset="0"/>
              </a:rPr>
              <a:t>, al gets the first 8 bits, and ah gets bits 9-16. The other registers can be accessed in a similar fashion.</a:t>
            </a:r>
          </a:p>
          <a:p>
            <a:pPr algn="just">
              <a:lnSpc>
                <a:spcPct val="170000"/>
              </a:lnSpc>
              <a:buFont typeface="Wingdings" pitchFamily="2" charset="2"/>
              <a:buChar char="ü"/>
            </a:pPr>
            <a:endParaRPr lang="en-US" sz="2000" dirty="0" smtClean="0">
              <a:latin typeface="Times New Roman" pitchFamily="18" charset="0"/>
              <a:cs typeface="Times New Roman" pitchFamily="18" charset="0"/>
            </a:endParaRPr>
          </a:p>
          <a:p>
            <a:pPr algn="just">
              <a:lnSpc>
                <a:spcPct val="170000"/>
              </a:lnSpc>
              <a:buFont typeface="Wingdings" pitchFamily="2" charset="2"/>
              <a:buChar char="ü"/>
            </a:pPr>
            <a:r>
              <a:rPr lang="en-US" sz="2000" dirty="0" smtClean="0">
                <a:latin typeface="Times New Roman" pitchFamily="18" charset="0"/>
                <a:cs typeface="Times New Roman" pitchFamily="18" charset="0"/>
              </a:rPr>
              <a:t>Supposedly</a:t>
            </a:r>
            <a:r>
              <a:rPr lang="en-US" sz="2000" dirty="0">
                <a:latin typeface="Times New Roman" pitchFamily="18" charset="0"/>
                <a:cs typeface="Times New Roman" pitchFamily="18" charset="0"/>
              </a:rPr>
              <a:t>, these registers can be used for anything, although most have a special use:</a:t>
            </a:r>
          </a:p>
          <a:p>
            <a:pPr marL="0" indent="0">
              <a:buNone/>
            </a:pPr>
            <a:endParaRPr lang="en-US" sz="2000" dirty="0"/>
          </a:p>
        </p:txBody>
      </p:sp>
    </p:spTree>
    <p:extLst>
      <p:ext uri="{BB962C8B-B14F-4D97-AF65-F5344CB8AC3E}">
        <p14:creationId xmlns:p14="http://schemas.microsoft.com/office/powerpoint/2010/main" val="35544630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76200"/>
            <a:ext cx="9067800" cy="6629400"/>
          </a:xfrm>
        </p:spPr>
        <p:txBody>
          <a:bodyPr>
            <a:normAutofit/>
          </a:bodyPr>
          <a:lstStyle/>
          <a:p>
            <a:pPr marL="0" indent="0" algn="just">
              <a:lnSpc>
                <a:spcPct val="200000"/>
              </a:lnSpc>
              <a:buNone/>
            </a:pPr>
            <a:r>
              <a:rPr lang="en-US" sz="1800" b="1" dirty="0">
                <a:latin typeface="Times New Roman" pitchFamily="18" charset="0"/>
                <a:cs typeface="Times New Roman" pitchFamily="18" charset="0"/>
              </a:rPr>
              <a:t>Address 	</a:t>
            </a:r>
            <a:r>
              <a:rPr lang="en-US" sz="1800" b="1" dirty="0" smtClean="0">
                <a:latin typeface="Times New Roman" pitchFamily="18" charset="0"/>
                <a:cs typeface="Times New Roman" pitchFamily="18" charset="0"/>
              </a:rPr>
              <a:t>                    Name </a:t>
            </a:r>
            <a:r>
              <a:rPr lang="en-US" sz="1800" b="1" dirty="0">
                <a:latin typeface="Times New Roman" pitchFamily="18" charset="0"/>
                <a:cs typeface="Times New Roman" pitchFamily="18" charset="0"/>
              </a:rPr>
              <a:t>		</a:t>
            </a:r>
            <a:r>
              <a:rPr lang="en-US" sz="1800" b="1" dirty="0" smtClean="0">
                <a:latin typeface="Times New Roman" pitchFamily="18" charset="0"/>
                <a:cs typeface="Times New Roman" pitchFamily="18" charset="0"/>
              </a:rPr>
              <a:t>             </a:t>
            </a:r>
            <a:r>
              <a:rPr lang="en-US" sz="1800" b="1" dirty="0">
                <a:latin typeface="Times New Roman" pitchFamily="18" charset="0"/>
                <a:cs typeface="Times New Roman" pitchFamily="18" charset="0"/>
              </a:rPr>
              <a:t>	Description</a:t>
            </a:r>
            <a:endParaRPr lang="en-US" sz="1800" dirty="0">
              <a:latin typeface="Times New Roman" pitchFamily="18" charset="0"/>
              <a:cs typeface="Times New Roman" pitchFamily="18" charset="0"/>
            </a:endParaRPr>
          </a:p>
          <a:p>
            <a:pPr marL="0" indent="0" algn="just">
              <a:lnSpc>
                <a:spcPct val="200000"/>
              </a:lnSpc>
              <a:buNone/>
            </a:pPr>
            <a:r>
              <a:rPr lang="en-US" sz="1800" dirty="0">
                <a:latin typeface="Times New Roman" pitchFamily="18" charset="0"/>
                <a:cs typeface="Times New Roman" pitchFamily="18" charset="0"/>
              </a:rPr>
              <a:t>EAX* </a:t>
            </a:r>
            <a:r>
              <a:rPr lang="en-US" sz="1800" dirty="0" smtClean="0">
                <a:latin typeface="Times New Roman" pitchFamily="18" charset="0"/>
                <a:cs typeface="Times New Roman" pitchFamily="18" charset="0"/>
              </a:rPr>
              <a:t>                  Accumulator </a:t>
            </a:r>
            <a:r>
              <a:rPr lang="en-US" sz="1800" dirty="0">
                <a:latin typeface="Times New Roman" pitchFamily="18" charset="0"/>
                <a:cs typeface="Times New Roman" pitchFamily="18" charset="0"/>
              </a:rPr>
              <a:t>Register 	calculations </a:t>
            </a:r>
            <a:r>
              <a:rPr lang="en-US" sz="1800" dirty="0" smtClean="0">
                <a:latin typeface="Times New Roman" pitchFamily="18" charset="0"/>
                <a:cs typeface="Times New Roman" pitchFamily="18" charset="0"/>
              </a:rPr>
              <a:t>for operations </a:t>
            </a:r>
            <a:r>
              <a:rPr lang="en-US" sz="1800" dirty="0">
                <a:latin typeface="Times New Roman" pitchFamily="18" charset="0"/>
                <a:cs typeface="Times New Roman" pitchFamily="18" charset="0"/>
              </a:rPr>
              <a:t>and results data</a:t>
            </a:r>
          </a:p>
          <a:p>
            <a:pPr marL="0" indent="0" algn="just">
              <a:lnSpc>
                <a:spcPct val="200000"/>
              </a:lnSpc>
              <a:buNone/>
            </a:pPr>
            <a:r>
              <a:rPr lang="en-US" sz="1800" dirty="0">
                <a:latin typeface="Times New Roman" pitchFamily="18" charset="0"/>
                <a:cs typeface="Times New Roman" pitchFamily="18" charset="0"/>
              </a:rPr>
              <a:t>EBX </a:t>
            </a:r>
            <a:r>
              <a:rPr lang="en-US" sz="1800" dirty="0" smtClean="0">
                <a:latin typeface="Times New Roman" pitchFamily="18" charset="0"/>
                <a:cs typeface="Times New Roman" pitchFamily="18" charset="0"/>
              </a:rPr>
              <a:t>   </a:t>
            </a:r>
            <a:r>
              <a:rPr lang="en-US" sz="1800" dirty="0">
                <a:latin typeface="Times New Roman" pitchFamily="18" charset="0"/>
                <a:cs typeface="Times New Roman" pitchFamily="18" charset="0"/>
              </a:rPr>
              <a:t>	</a:t>
            </a:r>
            <a:r>
              <a:rPr lang="en-US" sz="1800" dirty="0" smtClean="0">
                <a:latin typeface="Times New Roman" pitchFamily="18" charset="0"/>
                <a:cs typeface="Times New Roman" pitchFamily="18" charset="0"/>
              </a:rPr>
              <a:t>             Base </a:t>
            </a:r>
            <a:r>
              <a:rPr lang="en-US" sz="1800" dirty="0">
                <a:latin typeface="Times New Roman" pitchFamily="18" charset="0"/>
                <a:cs typeface="Times New Roman" pitchFamily="18" charset="0"/>
              </a:rPr>
              <a:t>Register 		pointer to data in the DS segment</a:t>
            </a:r>
          </a:p>
          <a:p>
            <a:pPr marL="0" indent="0" algn="just">
              <a:lnSpc>
                <a:spcPct val="200000"/>
              </a:lnSpc>
              <a:buNone/>
            </a:pPr>
            <a:r>
              <a:rPr lang="en-US" sz="1800" dirty="0">
                <a:latin typeface="Times New Roman" pitchFamily="18" charset="0"/>
                <a:cs typeface="Times New Roman" pitchFamily="18" charset="0"/>
              </a:rPr>
              <a:t>ECX* 	</a:t>
            </a:r>
            <a:r>
              <a:rPr lang="en-US" sz="1800" dirty="0" smtClean="0">
                <a:latin typeface="Times New Roman" pitchFamily="18" charset="0"/>
                <a:cs typeface="Times New Roman" pitchFamily="18" charset="0"/>
              </a:rPr>
              <a:t>               Count </a:t>
            </a:r>
            <a:r>
              <a:rPr lang="en-US" sz="1800" dirty="0">
                <a:latin typeface="Times New Roman" pitchFamily="18" charset="0"/>
                <a:cs typeface="Times New Roman" pitchFamily="18" charset="0"/>
              </a:rPr>
              <a:t>Register </a:t>
            </a:r>
            <a:r>
              <a:rPr lang="en-US" sz="1800" dirty="0" smtClean="0">
                <a:latin typeface="Times New Roman" pitchFamily="18" charset="0"/>
                <a:cs typeface="Times New Roman" pitchFamily="18" charset="0"/>
              </a:rPr>
              <a:t>         </a:t>
            </a:r>
            <a:r>
              <a:rPr lang="en-US" sz="1800" dirty="0">
                <a:latin typeface="Times New Roman" pitchFamily="18" charset="0"/>
                <a:cs typeface="Times New Roman" pitchFamily="18" charset="0"/>
              </a:rPr>
              <a:t>	counter for string and loop operations</a:t>
            </a:r>
          </a:p>
          <a:p>
            <a:pPr marL="0" indent="0" algn="just">
              <a:lnSpc>
                <a:spcPct val="200000"/>
              </a:lnSpc>
              <a:buNone/>
            </a:pPr>
            <a:r>
              <a:rPr lang="en-US" sz="1800" dirty="0">
                <a:latin typeface="Times New Roman" pitchFamily="18" charset="0"/>
                <a:cs typeface="Times New Roman" pitchFamily="18" charset="0"/>
              </a:rPr>
              <a:t>EDX* 	</a:t>
            </a:r>
            <a:r>
              <a:rPr lang="en-US" sz="1800" dirty="0" smtClean="0">
                <a:latin typeface="Times New Roman" pitchFamily="18" charset="0"/>
                <a:cs typeface="Times New Roman" pitchFamily="18" charset="0"/>
              </a:rPr>
              <a:t>                Data </a:t>
            </a:r>
            <a:r>
              <a:rPr lang="en-US" sz="1800" dirty="0">
                <a:latin typeface="Times New Roman" pitchFamily="18" charset="0"/>
                <a:cs typeface="Times New Roman" pitchFamily="18" charset="0"/>
              </a:rPr>
              <a:t>Register 		input/output pointer</a:t>
            </a:r>
          </a:p>
          <a:p>
            <a:pPr marL="0" indent="0" algn="just">
              <a:lnSpc>
                <a:spcPct val="200000"/>
              </a:lnSpc>
              <a:buNone/>
            </a:pPr>
            <a:r>
              <a:rPr lang="en-US" sz="1800" dirty="0">
                <a:latin typeface="Times New Roman" pitchFamily="18" charset="0"/>
                <a:cs typeface="Times New Roman" pitchFamily="18" charset="0"/>
              </a:rPr>
              <a:t>ESI 		</a:t>
            </a:r>
            <a:r>
              <a:rPr lang="en-US" sz="1800" dirty="0" smtClean="0">
                <a:latin typeface="Times New Roman" pitchFamily="18" charset="0"/>
                <a:cs typeface="Times New Roman" pitchFamily="18" charset="0"/>
              </a:rPr>
              <a:t> Source </a:t>
            </a:r>
            <a:r>
              <a:rPr lang="en-US" sz="1800" dirty="0">
                <a:latin typeface="Times New Roman" pitchFamily="18" charset="0"/>
                <a:cs typeface="Times New Roman" pitchFamily="18" charset="0"/>
              </a:rPr>
              <a:t>Index 		source pointer for string operations</a:t>
            </a:r>
          </a:p>
          <a:p>
            <a:pPr marL="0" indent="0" algn="just">
              <a:lnSpc>
                <a:spcPct val="200000"/>
              </a:lnSpc>
              <a:buNone/>
            </a:pPr>
            <a:r>
              <a:rPr lang="en-US" sz="1800" dirty="0">
                <a:latin typeface="Times New Roman" pitchFamily="18" charset="0"/>
                <a:cs typeface="Times New Roman" pitchFamily="18" charset="0"/>
              </a:rPr>
              <a:t>EDI 	</a:t>
            </a:r>
            <a:r>
              <a:rPr lang="en-US" sz="1800" dirty="0" smtClean="0">
                <a:latin typeface="Times New Roman" pitchFamily="18" charset="0"/>
                <a:cs typeface="Times New Roman" pitchFamily="18" charset="0"/>
              </a:rPr>
              <a:t>                   Destination </a:t>
            </a:r>
            <a:r>
              <a:rPr lang="en-US" sz="1800" dirty="0">
                <a:latin typeface="Times New Roman" pitchFamily="18" charset="0"/>
                <a:cs typeface="Times New Roman" pitchFamily="18" charset="0"/>
              </a:rPr>
              <a:t>Index 	destination pointer for string operations</a:t>
            </a:r>
          </a:p>
          <a:p>
            <a:pPr marL="0" indent="0" algn="just">
              <a:lnSpc>
                <a:spcPct val="200000"/>
              </a:lnSpc>
              <a:buNone/>
            </a:pPr>
            <a:r>
              <a:rPr lang="en-US" sz="1800" dirty="0">
                <a:latin typeface="Times New Roman" pitchFamily="18" charset="0"/>
                <a:cs typeface="Times New Roman" pitchFamily="18" charset="0"/>
              </a:rPr>
              <a:t>ESP 	</a:t>
            </a:r>
            <a:r>
              <a:rPr lang="en-US" sz="1800" dirty="0" smtClean="0">
                <a:latin typeface="Times New Roman" pitchFamily="18" charset="0"/>
                <a:cs typeface="Times New Roman" pitchFamily="18" charset="0"/>
              </a:rPr>
              <a:t>                   Stack </a:t>
            </a:r>
            <a:r>
              <a:rPr lang="en-US" sz="1800" dirty="0">
                <a:latin typeface="Times New Roman" pitchFamily="18" charset="0"/>
                <a:cs typeface="Times New Roman" pitchFamily="18" charset="0"/>
              </a:rPr>
              <a:t>Pointer 		stack pointer, should not be used</a:t>
            </a:r>
          </a:p>
          <a:p>
            <a:pPr marL="0" indent="0" algn="just">
              <a:lnSpc>
                <a:spcPct val="200000"/>
              </a:lnSpc>
              <a:buNone/>
            </a:pPr>
            <a:r>
              <a:rPr lang="en-US" sz="1800" dirty="0">
                <a:latin typeface="Times New Roman" pitchFamily="18" charset="0"/>
                <a:cs typeface="Times New Roman" pitchFamily="18" charset="0"/>
              </a:rPr>
              <a:t>EBP 	</a:t>
            </a:r>
            <a:r>
              <a:rPr lang="en-US" sz="1800" dirty="0" smtClean="0">
                <a:latin typeface="Times New Roman" pitchFamily="18" charset="0"/>
                <a:cs typeface="Times New Roman" pitchFamily="18" charset="0"/>
              </a:rPr>
              <a:t>                    Base </a:t>
            </a:r>
            <a:r>
              <a:rPr lang="en-US" sz="1800" dirty="0">
                <a:latin typeface="Times New Roman" pitchFamily="18" charset="0"/>
                <a:cs typeface="Times New Roman" pitchFamily="18" charset="0"/>
              </a:rPr>
              <a:t>Pointer 		pointer to data on the stack</a:t>
            </a:r>
          </a:p>
          <a:p>
            <a:pPr marL="0" indent="0" algn="just">
              <a:lnSpc>
                <a:spcPct val="200000"/>
              </a:lnSpc>
              <a:buNone/>
            </a:pP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40751083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52400"/>
            <a:ext cx="8991600" cy="6705600"/>
          </a:xfrm>
        </p:spPr>
        <p:txBody>
          <a:bodyPr>
            <a:normAutofit/>
          </a:bodyPr>
          <a:lstStyle/>
          <a:p>
            <a:pPr marL="0" indent="0" algn="just">
              <a:lnSpc>
                <a:spcPct val="150000"/>
              </a:lnSpc>
              <a:buNone/>
            </a:pPr>
            <a:r>
              <a:rPr lang="en-US" sz="1800" i="1" dirty="0">
                <a:latin typeface="Times New Roman" pitchFamily="18" charset="0"/>
                <a:cs typeface="Times New Roman" pitchFamily="18" charset="0"/>
              </a:rPr>
              <a:t>There are 6 16-bit segment registers. They define segments in memory:</a:t>
            </a:r>
            <a:endParaRPr lang="en-US" sz="1800" dirty="0">
              <a:latin typeface="Times New Roman" pitchFamily="18" charset="0"/>
              <a:cs typeface="Times New Roman" pitchFamily="18" charset="0"/>
            </a:endParaRPr>
          </a:p>
          <a:p>
            <a:pPr marL="0" indent="0" algn="just">
              <a:lnSpc>
                <a:spcPct val="150000"/>
              </a:lnSpc>
              <a:buNone/>
            </a:pPr>
            <a:r>
              <a:rPr lang="en-US" sz="1800" b="1" dirty="0" smtClean="0">
                <a:latin typeface="Times New Roman" pitchFamily="18" charset="0"/>
                <a:cs typeface="Times New Roman" pitchFamily="18" charset="0"/>
              </a:rPr>
              <a:t>        Address                           Name                                Description</a:t>
            </a:r>
            <a:endParaRPr lang="en-US" sz="1800" dirty="0">
              <a:latin typeface="Times New Roman" pitchFamily="18" charset="0"/>
              <a:cs typeface="Times New Roman" pitchFamily="18" charset="0"/>
            </a:endParaRPr>
          </a:p>
          <a:p>
            <a:pPr marL="0" indent="0" algn="just">
              <a:lnSpc>
                <a:spcPct val="150000"/>
              </a:lnSpc>
              <a:buNone/>
            </a:pPr>
            <a:r>
              <a:rPr lang="en-US" sz="1800" dirty="0" smtClean="0">
                <a:latin typeface="Times New Roman" pitchFamily="18" charset="0"/>
                <a:cs typeface="Times New Roman" pitchFamily="18" charset="0"/>
              </a:rPr>
              <a:t>           CS </a:t>
            </a:r>
            <a:r>
              <a:rPr lang="en-US" sz="1800" dirty="0">
                <a:latin typeface="Times New Roman" pitchFamily="18" charset="0"/>
                <a:cs typeface="Times New Roman" pitchFamily="18" charset="0"/>
              </a:rPr>
              <a:t>	</a:t>
            </a:r>
            <a:r>
              <a:rPr lang="en-US" sz="1800" dirty="0" smtClean="0">
                <a:latin typeface="Times New Roman" pitchFamily="18" charset="0"/>
                <a:cs typeface="Times New Roman" pitchFamily="18" charset="0"/>
              </a:rPr>
              <a:t>       </a:t>
            </a:r>
            <a:r>
              <a:rPr lang="en-US" sz="1800" dirty="0">
                <a:latin typeface="Times New Roman" pitchFamily="18" charset="0"/>
                <a:cs typeface="Times New Roman" pitchFamily="18" charset="0"/>
              </a:rPr>
              <a:t>Code Segment </a:t>
            </a:r>
            <a:r>
              <a:rPr lang="en-US" sz="1800" dirty="0" smtClean="0">
                <a:latin typeface="Times New Roman" pitchFamily="18" charset="0"/>
                <a:cs typeface="Times New Roman" pitchFamily="18" charset="0"/>
              </a:rPr>
              <a:t> </a:t>
            </a:r>
            <a:r>
              <a:rPr lang="en-US" sz="1800" dirty="0">
                <a:latin typeface="Times New Roman" pitchFamily="18" charset="0"/>
                <a:cs typeface="Times New Roman" pitchFamily="18" charset="0"/>
              </a:rPr>
              <a:t>	where instructions being executed are stored</a:t>
            </a:r>
          </a:p>
          <a:p>
            <a:pPr marL="0" indent="0" algn="just">
              <a:lnSpc>
                <a:spcPct val="150000"/>
              </a:lnSpc>
              <a:buNone/>
            </a:pPr>
            <a:r>
              <a:rPr lang="en-US" sz="1800" dirty="0" smtClean="0">
                <a:latin typeface="Times New Roman" pitchFamily="18" charset="0"/>
                <a:cs typeface="Times New Roman" pitchFamily="18" charset="0"/>
              </a:rPr>
              <a:t>           DS</a:t>
            </a:r>
            <a:r>
              <a:rPr lang="en-US" sz="1800" dirty="0">
                <a:latin typeface="Times New Roman" pitchFamily="18" charset="0"/>
                <a:cs typeface="Times New Roman" pitchFamily="18" charset="0"/>
              </a:rPr>
              <a:t>, ES, FS, GS   Data Segment </a:t>
            </a:r>
            <a:r>
              <a:rPr lang="en-US" sz="1800" dirty="0" smtClean="0">
                <a:latin typeface="Times New Roman" pitchFamily="18" charset="0"/>
                <a:cs typeface="Times New Roman" pitchFamily="18" charset="0"/>
              </a:rPr>
              <a:t>    </a:t>
            </a:r>
            <a:r>
              <a:rPr lang="en-US" sz="1800" dirty="0">
                <a:latin typeface="Times New Roman" pitchFamily="18" charset="0"/>
                <a:cs typeface="Times New Roman" pitchFamily="18" charset="0"/>
              </a:rPr>
              <a:t>	data </a:t>
            </a:r>
            <a:r>
              <a:rPr lang="en-US" sz="1800" dirty="0" smtClean="0">
                <a:latin typeface="Times New Roman" pitchFamily="18" charset="0"/>
                <a:cs typeface="Times New Roman" pitchFamily="18" charset="0"/>
              </a:rPr>
              <a:t>segment</a:t>
            </a:r>
            <a:endParaRPr lang="en-US" sz="1800" dirty="0">
              <a:latin typeface="Times New Roman" pitchFamily="18" charset="0"/>
              <a:cs typeface="Times New Roman" pitchFamily="18" charset="0"/>
            </a:endParaRPr>
          </a:p>
          <a:p>
            <a:pPr marL="0" indent="0" algn="just">
              <a:lnSpc>
                <a:spcPct val="150000"/>
              </a:lnSpc>
              <a:buNone/>
            </a:pPr>
            <a:r>
              <a:rPr lang="en-US" sz="1800" dirty="0" smtClean="0">
                <a:latin typeface="Times New Roman" pitchFamily="18" charset="0"/>
                <a:cs typeface="Times New Roman" pitchFamily="18" charset="0"/>
              </a:rPr>
              <a:t>            SS </a:t>
            </a:r>
            <a:r>
              <a:rPr lang="en-US" sz="1800" dirty="0">
                <a:latin typeface="Times New Roman" pitchFamily="18" charset="0"/>
                <a:cs typeface="Times New Roman" pitchFamily="18" charset="0"/>
              </a:rPr>
              <a:t>	</a:t>
            </a:r>
            <a:r>
              <a:rPr lang="en-US" sz="1800" dirty="0" smtClean="0">
                <a:latin typeface="Times New Roman" pitchFamily="18" charset="0"/>
                <a:cs typeface="Times New Roman" pitchFamily="18" charset="0"/>
              </a:rPr>
              <a:t>        Stack </a:t>
            </a:r>
            <a:r>
              <a:rPr lang="en-US" sz="1800" dirty="0">
                <a:latin typeface="Times New Roman" pitchFamily="18" charset="0"/>
                <a:cs typeface="Times New Roman" pitchFamily="18" charset="0"/>
              </a:rPr>
              <a:t>Segment	 </a:t>
            </a:r>
            <a:r>
              <a:rPr lang="en-US" sz="1800" dirty="0" smtClean="0">
                <a:latin typeface="Times New Roman" pitchFamily="18" charset="0"/>
                <a:cs typeface="Times New Roman" pitchFamily="18" charset="0"/>
              </a:rPr>
              <a:t>          where </a:t>
            </a:r>
            <a:r>
              <a:rPr lang="en-US" sz="1800" dirty="0">
                <a:latin typeface="Times New Roman" pitchFamily="18" charset="0"/>
                <a:cs typeface="Times New Roman" pitchFamily="18" charset="0"/>
              </a:rPr>
              <a:t>the stack for the current program is </a:t>
            </a:r>
            <a:r>
              <a:rPr lang="en-US" sz="1800" dirty="0" smtClean="0">
                <a:latin typeface="Times New Roman" pitchFamily="18" charset="0"/>
                <a:cs typeface="Times New Roman" pitchFamily="18" charset="0"/>
              </a:rPr>
              <a:t>stored</a:t>
            </a:r>
          </a:p>
          <a:p>
            <a:pPr marL="0" indent="0" algn="just">
              <a:lnSpc>
                <a:spcPct val="150000"/>
              </a:lnSpc>
              <a:buNone/>
            </a:pPr>
            <a:endParaRPr lang="en-US" sz="1800" dirty="0">
              <a:latin typeface="Times New Roman" pitchFamily="18" charset="0"/>
              <a:cs typeface="Times New Roman" pitchFamily="18" charset="0"/>
            </a:endParaRPr>
          </a:p>
          <a:p>
            <a:pPr marL="0" indent="0" algn="just">
              <a:lnSpc>
                <a:spcPct val="150000"/>
              </a:lnSpc>
              <a:buNone/>
            </a:pPr>
            <a:r>
              <a:rPr lang="en-US" sz="1800" i="1" dirty="0">
                <a:latin typeface="Times New Roman" pitchFamily="18" charset="0"/>
                <a:cs typeface="Times New Roman" pitchFamily="18" charset="0"/>
              </a:rPr>
              <a:t>Lastly, there are 2 32-bit registers that don't fit into any category:</a:t>
            </a:r>
            <a:endParaRPr lang="en-US" sz="1800" dirty="0">
              <a:latin typeface="Times New Roman" pitchFamily="18" charset="0"/>
              <a:cs typeface="Times New Roman" pitchFamily="18" charset="0"/>
            </a:endParaRPr>
          </a:p>
          <a:p>
            <a:pPr marL="0" indent="0" algn="just">
              <a:lnSpc>
                <a:spcPct val="150000"/>
              </a:lnSpc>
              <a:buNone/>
            </a:pPr>
            <a:r>
              <a:rPr lang="en-US" sz="1800" b="1" dirty="0" smtClean="0">
                <a:latin typeface="Times New Roman" pitchFamily="18" charset="0"/>
                <a:cs typeface="Times New Roman" pitchFamily="18" charset="0"/>
              </a:rPr>
              <a:t>         Address </a:t>
            </a:r>
            <a:r>
              <a:rPr lang="en-US" sz="1800" b="1" dirty="0">
                <a:latin typeface="Times New Roman" pitchFamily="18" charset="0"/>
                <a:cs typeface="Times New Roman" pitchFamily="18" charset="0"/>
              </a:rPr>
              <a:t>	   </a:t>
            </a:r>
            <a:r>
              <a:rPr lang="en-US" sz="1800" b="1" dirty="0" smtClean="0">
                <a:latin typeface="Times New Roman" pitchFamily="18" charset="0"/>
                <a:cs typeface="Times New Roman" pitchFamily="18" charset="0"/>
              </a:rPr>
              <a:t>                Name </a:t>
            </a:r>
            <a:r>
              <a:rPr lang="en-US" sz="1800" b="1" dirty="0">
                <a:latin typeface="Times New Roman" pitchFamily="18" charset="0"/>
                <a:cs typeface="Times New Roman" pitchFamily="18" charset="0"/>
              </a:rPr>
              <a:t>	</a:t>
            </a:r>
            <a:r>
              <a:rPr lang="en-US" sz="1800" b="1" dirty="0" smtClean="0">
                <a:latin typeface="Times New Roman" pitchFamily="18" charset="0"/>
                <a:cs typeface="Times New Roman" pitchFamily="18" charset="0"/>
              </a:rPr>
              <a:t>                 </a:t>
            </a:r>
            <a:r>
              <a:rPr lang="en-US" sz="1800" b="1" dirty="0">
                <a:latin typeface="Times New Roman" pitchFamily="18" charset="0"/>
                <a:cs typeface="Times New Roman" pitchFamily="18" charset="0"/>
              </a:rPr>
              <a:t>	Description</a:t>
            </a:r>
            <a:endParaRPr lang="en-US" sz="1800" dirty="0">
              <a:latin typeface="Times New Roman" pitchFamily="18" charset="0"/>
              <a:cs typeface="Times New Roman" pitchFamily="18" charset="0"/>
            </a:endParaRPr>
          </a:p>
          <a:p>
            <a:pPr marL="0" indent="0" algn="just">
              <a:lnSpc>
                <a:spcPct val="150000"/>
              </a:lnSpc>
              <a:buNone/>
            </a:pPr>
            <a:r>
              <a:rPr lang="en-US" sz="1800" dirty="0" smtClean="0">
                <a:latin typeface="Times New Roman" pitchFamily="18" charset="0"/>
                <a:cs typeface="Times New Roman" pitchFamily="18" charset="0"/>
              </a:rPr>
              <a:t>         EFLAGS</a:t>
            </a:r>
            <a:r>
              <a:rPr lang="en-US" sz="1800" dirty="0">
                <a:latin typeface="Times New Roman" pitchFamily="18" charset="0"/>
                <a:cs typeface="Times New Roman" pitchFamily="18" charset="0"/>
              </a:rPr>
              <a:t>	    </a:t>
            </a:r>
            <a:r>
              <a:rPr lang="en-US" sz="1800" dirty="0" smtClean="0">
                <a:latin typeface="Times New Roman" pitchFamily="18" charset="0"/>
                <a:cs typeface="Times New Roman" pitchFamily="18" charset="0"/>
              </a:rPr>
              <a:t>            Code </a:t>
            </a:r>
            <a:r>
              <a:rPr lang="en-US" sz="1800" dirty="0">
                <a:latin typeface="Times New Roman" pitchFamily="18" charset="0"/>
                <a:cs typeface="Times New Roman" pitchFamily="18" charset="0"/>
              </a:rPr>
              <a:t>Segment 	</a:t>
            </a:r>
            <a:r>
              <a:rPr lang="en-US" sz="1800" dirty="0" smtClean="0">
                <a:latin typeface="Times New Roman" pitchFamily="18" charset="0"/>
                <a:cs typeface="Times New Roman" pitchFamily="18" charset="0"/>
              </a:rPr>
              <a:t>  status</a:t>
            </a:r>
            <a:r>
              <a:rPr lang="en-US" sz="1800" dirty="0">
                <a:latin typeface="Times New Roman" pitchFamily="18" charset="0"/>
                <a:cs typeface="Times New Roman" pitchFamily="18" charset="0"/>
              </a:rPr>
              <a:t>, control, and system flags</a:t>
            </a:r>
          </a:p>
          <a:p>
            <a:pPr marL="0" indent="0" algn="just">
              <a:lnSpc>
                <a:spcPct val="150000"/>
              </a:lnSpc>
              <a:buNone/>
            </a:pPr>
            <a:r>
              <a:rPr lang="en-US" sz="1800" dirty="0" smtClean="0">
                <a:latin typeface="Times New Roman" pitchFamily="18" charset="0"/>
                <a:cs typeface="Times New Roman" pitchFamily="18" charset="0"/>
              </a:rPr>
              <a:t>          EIP </a:t>
            </a:r>
            <a:r>
              <a:rPr lang="en-US" sz="1800" dirty="0">
                <a:latin typeface="Times New Roman" pitchFamily="18" charset="0"/>
                <a:cs typeface="Times New Roman" pitchFamily="18" charset="0"/>
              </a:rPr>
              <a:t>	</a:t>
            </a:r>
            <a:r>
              <a:rPr lang="en-US" sz="1800" dirty="0" smtClean="0">
                <a:latin typeface="Times New Roman" pitchFamily="18" charset="0"/>
                <a:cs typeface="Times New Roman" pitchFamily="18" charset="0"/>
              </a:rPr>
              <a:t>                </a:t>
            </a:r>
            <a:r>
              <a:rPr lang="en-US" sz="1800" dirty="0">
                <a:latin typeface="Times New Roman" pitchFamily="18" charset="0"/>
                <a:cs typeface="Times New Roman" pitchFamily="18" charset="0"/>
              </a:rPr>
              <a:t>Instruction Pointer </a:t>
            </a:r>
            <a:r>
              <a:rPr lang="en-US" sz="1800" dirty="0" smtClean="0">
                <a:latin typeface="Times New Roman" pitchFamily="18" charset="0"/>
                <a:cs typeface="Times New Roman" pitchFamily="18" charset="0"/>
              </a:rPr>
              <a:t>   offset </a:t>
            </a:r>
            <a:r>
              <a:rPr lang="en-US" sz="1800" dirty="0">
                <a:latin typeface="Times New Roman" pitchFamily="18" charset="0"/>
                <a:cs typeface="Times New Roman" pitchFamily="18" charset="0"/>
              </a:rPr>
              <a:t>for the next instruction to be executed</a:t>
            </a:r>
          </a:p>
          <a:p>
            <a:pPr marL="0" indent="0" algn="just">
              <a:lnSpc>
                <a:spcPct val="150000"/>
              </a:lnSpc>
              <a:buNone/>
            </a:pP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275992095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TotalTime>
  <Words>505</Words>
  <Application>Microsoft Office PowerPoint</Application>
  <PresentationFormat>On-screen Show (4:3)</PresentationFormat>
  <Paragraphs>62</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 ASSEMBLING LANGUAGE OVERVIEW  </vt:lpstr>
      <vt:lpstr>PowerPoint Presentation</vt:lpstr>
      <vt:lpstr>PowerPoint Presentation</vt:lpstr>
      <vt:lpstr>PowerPoint Presentation</vt:lpstr>
      <vt:lpstr>ASSEMBLY LANGUAGE PROGRAM LAYOUT</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OGAH</dc:creator>
  <cp:lastModifiedBy>OGAH</cp:lastModifiedBy>
  <cp:revision>8</cp:revision>
  <dcterms:created xsi:type="dcterms:W3CDTF">2023-07-09T09:38:39Z</dcterms:created>
  <dcterms:modified xsi:type="dcterms:W3CDTF">2023-07-09T11:37:49Z</dcterms:modified>
</cp:coreProperties>
</file>