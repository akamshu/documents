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422"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023EE45-9299-4418-B4B4-3FA0683C2A7C}" type="datetimeFigureOut">
              <a:rPr lang="en-US" smtClean="0"/>
              <a:t>9/15/2023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99162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23EE45-9299-4418-B4B4-3FA0683C2A7C}" type="datetimeFigureOut">
              <a:rPr lang="en-US" smtClean="0"/>
              <a:t>9/15/2023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539771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23EE45-9299-4418-B4B4-3FA0683C2A7C}" type="datetimeFigureOut">
              <a:rPr lang="en-US" smtClean="0"/>
              <a:t>9/15/2023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2647357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023EE45-9299-4418-B4B4-3FA0683C2A7C}" type="datetimeFigureOut">
              <a:rPr lang="en-US" smtClean="0"/>
              <a:t>9/15/2023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671438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023EE45-9299-4418-B4B4-3FA0683C2A7C}" type="datetimeFigureOut">
              <a:rPr lang="en-US" smtClean="0"/>
              <a:t>9/15/2023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348680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023EE45-9299-4418-B4B4-3FA0683C2A7C}" type="datetimeFigureOut">
              <a:rPr lang="en-US" smtClean="0"/>
              <a:t>9/15/2023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3843137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23EE45-9299-4418-B4B4-3FA0683C2A7C}" type="datetimeFigureOut">
              <a:rPr lang="en-US" smtClean="0"/>
              <a:t>9/15/2023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1803204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23EE45-9299-4418-B4B4-3FA0683C2A7C}" type="datetimeFigureOut">
              <a:rPr lang="en-US" smtClean="0"/>
              <a:t>9/15/2023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2168228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23EE45-9299-4418-B4B4-3FA0683C2A7C}" type="datetimeFigureOut">
              <a:rPr lang="en-US" smtClean="0"/>
              <a:t>9/15/2023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2154034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23EE45-9299-4418-B4B4-3FA0683C2A7C}" type="datetimeFigureOut">
              <a:rPr lang="en-US" smtClean="0"/>
              <a:t>9/15/2023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1514195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023EE45-9299-4418-B4B4-3FA0683C2A7C}" type="datetimeFigureOut">
              <a:rPr lang="en-US" smtClean="0"/>
              <a:t>9/15/2023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E0A306-2258-4960-9317-C80CF3964254}" type="slidenum">
              <a:rPr lang="en-US" smtClean="0"/>
              <a:t>‹#›</a:t>
            </a:fld>
            <a:endParaRPr lang="en-US"/>
          </a:p>
        </p:txBody>
      </p:sp>
    </p:spTree>
    <p:extLst>
      <p:ext uri="{BB962C8B-B14F-4D97-AF65-F5344CB8AC3E}">
        <p14:creationId xmlns:p14="http://schemas.microsoft.com/office/powerpoint/2010/main" val="33436613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23EE45-9299-4418-B4B4-3FA0683C2A7C}" type="datetimeFigureOut">
              <a:rPr lang="en-US" smtClean="0"/>
              <a:t>9/15/2023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E0A306-2258-4960-9317-C80CF3964254}" type="slidenum">
              <a:rPr lang="en-US" smtClean="0"/>
              <a:t>‹#›</a:t>
            </a:fld>
            <a:endParaRPr lang="en-US"/>
          </a:p>
        </p:txBody>
      </p:sp>
    </p:spTree>
    <p:extLst>
      <p:ext uri="{BB962C8B-B14F-4D97-AF65-F5344CB8AC3E}">
        <p14:creationId xmlns:p14="http://schemas.microsoft.com/office/powerpoint/2010/main" val="859079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1"/>
            <a:ext cx="7772400" cy="838199"/>
          </a:xfrm>
        </p:spPr>
        <p:txBody>
          <a:bodyPr>
            <a:normAutofit/>
          </a:bodyPr>
          <a:lstStyle/>
          <a:p>
            <a:r>
              <a:rPr lang="en-US" sz="3200" b="1" dirty="0">
                <a:latin typeface="Times New Roman" pitchFamily="18" charset="0"/>
                <a:cs typeface="Times New Roman" pitchFamily="18" charset="0"/>
              </a:rPr>
              <a:t>PROCESS OF ASSEMBLY </a:t>
            </a:r>
            <a:endParaRPr lang="en-US" sz="3200" dirty="0">
              <a:latin typeface="Times New Roman" pitchFamily="18" charset="0"/>
              <a:cs typeface="Times New Roman" pitchFamily="18" charset="0"/>
            </a:endParaRPr>
          </a:p>
        </p:txBody>
      </p:sp>
      <p:sp>
        <p:nvSpPr>
          <p:cNvPr id="3" name="Subtitle 2"/>
          <p:cNvSpPr>
            <a:spLocks noGrp="1"/>
          </p:cNvSpPr>
          <p:nvPr>
            <p:ph type="subTitle" idx="1"/>
          </p:nvPr>
        </p:nvSpPr>
        <p:spPr>
          <a:xfrm>
            <a:off x="152400" y="990600"/>
            <a:ext cx="8839200" cy="5105400"/>
          </a:xfrm>
        </p:spPr>
        <p:txBody>
          <a:bodyPr>
            <a:noAutofit/>
          </a:bodyPr>
          <a:lstStyle/>
          <a:p>
            <a:pPr marL="285750" indent="-285750" algn="just">
              <a:lnSpc>
                <a:spcPct val="150000"/>
              </a:lnSpc>
              <a:buFont typeface="Wingdings" pitchFamily="2" charset="2"/>
              <a:buChar char="Ø"/>
            </a:pPr>
            <a:r>
              <a:rPr lang="en-US" sz="1800" dirty="0">
                <a:solidFill>
                  <a:schemeClr val="tx1"/>
                </a:solidFill>
                <a:latin typeface="Times New Roman" pitchFamily="18" charset="0"/>
                <a:cs typeface="Times New Roman" pitchFamily="18" charset="0"/>
              </a:rPr>
              <a:t>The process of creating working assembly language programs involves a number of steps.</a:t>
            </a:r>
          </a:p>
          <a:p>
            <a:pPr marL="285750" indent="-285750" algn="just">
              <a:lnSpc>
                <a:spcPct val="150000"/>
              </a:lnSpc>
              <a:buFont typeface="Wingdings" pitchFamily="2" charset="2"/>
              <a:buChar char="Ø"/>
            </a:pPr>
            <a:r>
              <a:rPr lang="en-US" sz="1800" dirty="0">
                <a:solidFill>
                  <a:schemeClr val="tx1"/>
                </a:solidFill>
                <a:latin typeface="Times New Roman" pitchFamily="18" charset="0"/>
                <a:cs typeface="Times New Roman" pitchFamily="18" charset="0"/>
              </a:rPr>
              <a:t>Assembly language is a compiled language , in the sense that assembly language source-code must first be created with a text-editor program, and then the source-code must be compiled. Assembly language compilers are universally call “assemblers”. </a:t>
            </a:r>
          </a:p>
          <a:p>
            <a:pPr marL="285750" indent="-285750" algn="just">
              <a:lnSpc>
                <a:spcPct val="150000"/>
              </a:lnSpc>
              <a:buFont typeface="Wingdings" pitchFamily="2" charset="2"/>
              <a:buChar char="Ø"/>
            </a:pPr>
            <a:r>
              <a:rPr lang="en-US" sz="1800" dirty="0">
                <a:solidFill>
                  <a:schemeClr val="tx1"/>
                </a:solidFill>
                <a:latin typeface="Times New Roman" pitchFamily="18" charset="0"/>
                <a:cs typeface="Times New Roman" pitchFamily="18" charset="0"/>
              </a:rPr>
              <a:t>Five types of auxiliary programs are commonly used in 8088 assembly language programming . First , as mentioned above, is the text-editor , which is used to type in assembly language source code and then to edit it when errors are discovered . </a:t>
            </a:r>
          </a:p>
          <a:p>
            <a:pPr marL="285750" indent="-285750" algn="just">
              <a:lnSpc>
                <a:spcPct val="150000"/>
              </a:lnSpc>
              <a:buFont typeface="Wingdings" pitchFamily="2" charset="2"/>
              <a:buChar char="Ø"/>
            </a:pPr>
            <a:r>
              <a:rPr lang="en-US" sz="1800" dirty="0">
                <a:solidFill>
                  <a:schemeClr val="tx1"/>
                </a:solidFill>
                <a:latin typeface="Times New Roman" pitchFamily="18" charset="0"/>
                <a:cs typeface="Times New Roman" pitchFamily="18" charset="0"/>
              </a:rPr>
              <a:t>Second is the assembler. The assembler “assembles ” the source code , creating “object” code in the process. The object code is neither executable nor human-readable. </a:t>
            </a:r>
          </a:p>
          <a:p>
            <a:pPr marL="285750" indent="-285750" algn="just">
              <a:lnSpc>
                <a:spcPct val="150000"/>
              </a:lnSpc>
              <a:buFont typeface="Wingdings" pitchFamily="2" charset="2"/>
              <a:buChar char="Ø"/>
            </a:pPr>
            <a:r>
              <a:rPr lang="en-US" sz="1800" dirty="0">
                <a:solidFill>
                  <a:schemeClr val="tx1"/>
                </a:solidFill>
                <a:latin typeface="Times New Roman" pitchFamily="18" charset="0"/>
                <a:cs typeface="Times New Roman" pitchFamily="18" charset="0"/>
              </a:rPr>
              <a:t>The third program is the linker. The linker combines object code modules created by the assembler or by various high-level compilers. </a:t>
            </a:r>
          </a:p>
        </p:txBody>
      </p:sp>
    </p:spTree>
    <p:extLst>
      <p:ext uri="{BB962C8B-B14F-4D97-AF65-F5344CB8AC3E}">
        <p14:creationId xmlns:p14="http://schemas.microsoft.com/office/powerpoint/2010/main" val="22304283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228600"/>
            <a:ext cx="8991600" cy="6553200"/>
          </a:xfrm>
        </p:spPr>
        <p:txBody>
          <a:bodyPr>
            <a:normAutofit/>
          </a:bodyPr>
          <a:lstStyle/>
          <a:p>
            <a:pPr marL="0" indent="0" algn="just">
              <a:lnSpc>
                <a:spcPct val="200000"/>
              </a:lnSpc>
              <a:buNone/>
            </a:pPr>
            <a:r>
              <a:rPr lang="en-US" sz="2000" b="1" dirty="0">
                <a:latin typeface="Times New Roman" pitchFamily="18" charset="0"/>
                <a:cs typeface="Times New Roman" pitchFamily="18" charset="0"/>
              </a:rPr>
              <a:t>For example: </a:t>
            </a:r>
            <a:r>
              <a:rPr lang="en-US" sz="2000" dirty="0">
                <a:latin typeface="Times New Roman" pitchFamily="18" charset="0"/>
                <a:cs typeface="Times New Roman" pitchFamily="18" charset="0"/>
              </a:rPr>
              <a:t> </a:t>
            </a:r>
          </a:p>
          <a:p>
            <a:pPr marL="0" indent="0" algn="just">
              <a:lnSpc>
                <a:spcPct val="200000"/>
              </a:lnSpc>
              <a:buNone/>
            </a:pPr>
            <a:r>
              <a:rPr lang="en-US" sz="2000" dirty="0">
                <a:latin typeface="Times New Roman" pitchFamily="18" charset="0"/>
                <a:cs typeface="Times New Roman" pitchFamily="18" charset="0"/>
              </a:rPr>
              <a:t>If we wrote a program yesterday to convert hexadecimal numbers to decimal, and we write a program today to convert decimal numbers to hexadecimal, then we may want to write a third </a:t>
            </a:r>
            <a:r>
              <a:rPr lang="en-US" sz="2000" dirty="0" err="1">
                <a:latin typeface="Times New Roman" pitchFamily="18" charset="0"/>
                <a:cs typeface="Times New Roman" pitchFamily="18" charset="0"/>
              </a:rPr>
              <a:t>programme</a:t>
            </a:r>
            <a:r>
              <a:rPr lang="en-US" sz="2000" dirty="0">
                <a:latin typeface="Times New Roman" pitchFamily="18" charset="0"/>
                <a:cs typeface="Times New Roman" pitchFamily="18" charset="0"/>
              </a:rPr>
              <a:t> tomorrow which, when linked with this, reads two-decimal numbers from the keyboard, converts them to hexadecimal, adds them, and writes the back to the screen in decimal. </a:t>
            </a:r>
          </a:p>
          <a:p>
            <a:pPr marL="0" indent="0" algn="just">
              <a:lnSpc>
                <a:spcPct val="200000"/>
              </a:lnSpc>
              <a:buNone/>
            </a:pPr>
            <a:endParaRPr lang="en-US" sz="2000" dirty="0">
              <a:latin typeface="Times New Roman" pitchFamily="18" charset="0"/>
              <a:cs typeface="Times New Roman" pitchFamily="18" charset="0"/>
            </a:endParaRPr>
          </a:p>
          <a:p>
            <a:pPr marL="0" indent="0" algn="just">
              <a:lnSpc>
                <a:spcPct val="200000"/>
              </a:lnSpc>
              <a:buNone/>
            </a:pPr>
            <a:r>
              <a:rPr lang="en-US" sz="2000" dirty="0">
                <a:latin typeface="Times New Roman" pitchFamily="18" charset="0"/>
                <a:cs typeface="Times New Roman" pitchFamily="18" charset="0"/>
              </a:rPr>
              <a:t>The fourth </a:t>
            </a:r>
            <a:r>
              <a:rPr lang="en-US" sz="2000" dirty="0" err="1">
                <a:latin typeface="Times New Roman" pitchFamily="18" charset="0"/>
                <a:cs typeface="Times New Roman" pitchFamily="18" charset="0"/>
              </a:rPr>
              <a:t>programme</a:t>
            </a:r>
            <a:r>
              <a:rPr lang="en-US" sz="2000" dirty="0">
                <a:latin typeface="Times New Roman" pitchFamily="18" charset="0"/>
                <a:cs typeface="Times New Roman" pitchFamily="18" charset="0"/>
              </a:rPr>
              <a:t>, the loader, is actually built into the operating system and is never explicitly executed. The loader takes the “</a:t>
            </a:r>
            <a:r>
              <a:rPr lang="en-US" sz="2000" dirty="0" err="1">
                <a:latin typeface="Times New Roman" pitchFamily="18" charset="0"/>
                <a:cs typeface="Times New Roman" pitchFamily="18" charset="0"/>
              </a:rPr>
              <a:t>relocatable</a:t>
            </a:r>
            <a:r>
              <a:rPr lang="en-US" sz="2000" dirty="0">
                <a:latin typeface="Times New Roman" pitchFamily="18" charset="0"/>
                <a:cs typeface="Times New Roman" pitchFamily="18" charset="0"/>
              </a:rPr>
              <a:t>” code created by the linker, “loads” it into the memory at the lowest available location and runs it. </a:t>
            </a:r>
          </a:p>
        </p:txBody>
      </p:sp>
    </p:spTree>
    <p:extLst>
      <p:ext uri="{BB962C8B-B14F-4D97-AF65-F5344CB8AC3E}">
        <p14:creationId xmlns:p14="http://schemas.microsoft.com/office/powerpoint/2010/main" val="2191286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152400"/>
            <a:ext cx="8991600" cy="6629400"/>
          </a:xfrm>
        </p:spPr>
        <p:txBody>
          <a:bodyPr/>
          <a:lstStyle/>
          <a:p>
            <a:pPr algn="just">
              <a:lnSpc>
                <a:spcPct val="150000"/>
              </a:lnSpc>
              <a:buFont typeface="Wingdings" pitchFamily="2" charset="2"/>
              <a:buChar char="Ø"/>
            </a:pPr>
            <a:r>
              <a:rPr lang="en-US" sz="2000" b="1" dirty="0">
                <a:latin typeface="Times New Roman" pitchFamily="18" charset="0"/>
                <a:cs typeface="Times New Roman" pitchFamily="18" charset="0"/>
              </a:rPr>
              <a:t>INTEL 8088 AND ABOVE CPU REGISTERS </a:t>
            </a:r>
          </a:p>
          <a:p>
            <a:pPr algn="just">
              <a:lnSpc>
                <a:spcPct val="150000"/>
              </a:lnSpc>
              <a:buFont typeface="Wingdings" pitchFamily="2" charset="2"/>
              <a:buChar char="ü"/>
            </a:pPr>
            <a:r>
              <a:rPr lang="en-US" sz="2400" dirty="0">
                <a:latin typeface="Times New Roman" pitchFamily="18" charset="0"/>
                <a:cs typeface="Times New Roman" pitchFamily="18" charset="0"/>
              </a:rPr>
              <a:t>A register is like a memory location in that it can store a byte (or word) value. These register sizes apply to CPUs like the 8088, 8086, 8080, Z80, etc. The 68000 CPU has all 4-byte registers. </a:t>
            </a:r>
          </a:p>
          <a:p>
            <a:pPr algn="just">
              <a:lnSpc>
                <a:spcPct val="150000"/>
              </a:lnSpc>
              <a:buFont typeface="Wingdings" pitchFamily="2" charset="2"/>
              <a:buChar char="ü"/>
            </a:pPr>
            <a:endParaRPr lang="en-US" sz="2400" dirty="0">
              <a:latin typeface="Times New Roman" pitchFamily="18" charset="0"/>
              <a:cs typeface="Times New Roman" pitchFamily="18" charset="0"/>
            </a:endParaRPr>
          </a:p>
          <a:p>
            <a:pPr algn="just">
              <a:lnSpc>
                <a:spcPct val="150000"/>
              </a:lnSpc>
              <a:buFont typeface="Wingdings" pitchFamily="2" charset="2"/>
              <a:buChar char="ü"/>
            </a:pPr>
            <a:r>
              <a:rPr lang="en-US" sz="2400" dirty="0">
                <a:latin typeface="Times New Roman" pitchFamily="18" charset="0"/>
                <a:cs typeface="Times New Roman" pitchFamily="18" charset="0"/>
              </a:rPr>
              <a:t>The Z8000 CPU has registers that can be grouped in various ways to contain anything from one byte to 8 bytes. </a:t>
            </a:r>
          </a:p>
          <a:p>
            <a:pPr algn="just">
              <a:lnSpc>
                <a:spcPct val="150000"/>
              </a:lnSpc>
              <a:buFont typeface="Wingdings" pitchFamily="2" charset="2"/>
              <a:buChar char="ü"/>
            </a:pPr>
            <a:endParaRPr lang="en-US" sz="2400" dirty="0">
              <a:latin typeface="Times New Roman" pitchFamily="18" charset="0"/>
              <a:cs typeface="Times New Roman" pitchFamily="18" charset="0"/>
            </a:endParaRPr>
          </a:p>
          <a:p>
            <a:pPr algn="just">
              <a:lnSpc>
                <a:spcPct val="150000"/>
              </a:lnSpc>
              <a:buFont typeface="Wingdings" pitchFamily="2" charset="2"/>
              <a:buChar char="ü"/>
            </a:pPr>
            <a:r>
              <a:rPr lang="en-US" sz="2400" dirty="0">
                <a:latin typeface="Times New Roman" pitchFamily="18" charset="0"/>
                <a:cs typeface="Times New Roman" pitchFamily="18" charset="0"/>
              </a:rPr>
              <a:t>Some microprocessors have no registers at all. However, a register has no address in the computer's memory. Registers are not a part of the computer's memory, but are built into the CPU itself. </a:t>
            </a:r>
          </a:p>
        </p:txBody>
      </p:sp>
    </p:spTree>
    <p:extLst>
      <p:ext uri="{BB962C8B-B14F-4D97-AF65-F5344CB8AC3E}">
        <p14:creationId xmlns:p14="http://schemas.microsoft.com/office/powerpoint/2010/main" val="4077347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629400"/>
          </a:xfrm>
        </p:spPr>
        <p:txBody>
          <a:bodyPr>
            <a:noAutofit/>
          </a:bodyPr>
          <a:lstStyle/>
          <a:p>
            <a:pPr marL="0" indent="0" algn="just">
              <a:lnSpc>
                <a:spcPct val="150000"/>
              </a:lnSpc>
              <a:buNone/>
            </a:pPr>
            <a:r>
              <a:rPr lang="en-US" sz="2200" dirty="0">
                <a:latin typeface="Times New Roman" pitchFamily="18" charset="0"/>
                <a:cs typeface="Times New Roman" pitchFamily="18" charset="0"/>
              </a:rPr>
              <a:t>Registers are so important in assembly language programming (on microcomputers) for various reasons: </a:t>
            </a:r>
          </a:p>
          <a:p>
            <a:pPr marL="0" indent="0" algn="just">
              <a:lnSpc>
                <a:spcPct val="150000"/>
              </a:lnSpc>
              <a:buNone/>
            </a:pPr>
            <a:endParaRPr lang="en-US" sz="2200" dirty="0">
              <a:latin typeface="Times New Roman" pitchFamily="18" charset="0"/>
              <a:cs typeface="Times New Roman" pitchFamily="18" charset="0"/>
            </a:endParaRPr>
          </a:p>
          <a:p>
            <a:pPr algn="just">
              <a:lnSpc>
                <a:spcPct val="150000"/>
              </a:lnSpc>
              <a:buFont typeface="Wingdings" pitchFamily="2" charset="2"/>
              <a:buChar char="ü"/>
            </a:pPr>
            <a:r>
              <a:rPr lang="en-US" sz="2200" dirty="0">
                <a:latin typeface="Times New Roman" pitchFamily="18" charset="0"/>
                <a:cs typeface="Times New Roman" pitchFamily="18" charset="0"/>
              </a:rPr>
              <a:t>First, the variety of instructions using registers tends to be greater than that for operating on values stored at memory locations. </a:t>
            </a:r>
          </a:p>
          <a:p>
            <a:pPr algn="just">
              <a:lnSpc>
                <a:spcPct val="150000"/>
              </a:lnSpc>
              <a:buFont typeface="Wingdings" pitchFamily="2" charset="2"/>
              <a:buChar char="ü"/>
            </a:pPr>
            <a:endParaRPr lang="en-US" sz="2200" dirty="0">
              <a:latin typeface="Times New Roman" pitchFamily="18" charset="0"/>
              <a:cs typeface="Times New Roman" pitchFamily="18" charset="0"/>
            </a:endParaRPr>
          </a:p>
          <a:p>
            <a:pPr algn="just">
              <a:lnSpc>
                <a:spcPct val="150000"/>
              </a:lnSpc>
              <a:buFont typeface="Wingdings" pitchFamily="2" charset="2"/>
              <a:buChar char="ü"/>
            </a:pPr>
            <a:r>
              <a:rPr lang="en-US" sz="2200" dirty="0">
                <a:latin typeface="Times New Roman" pitchFamily="18" charset="0"/>
                <a:cs typeface="Times New Roman" pitchFamily="18" charset="0"/>
              </a:rPr>
              <a:t>Second, these instructions tend to be shorter (i.e., take up less room to store in memory). </a:t>
            </a:r>
          </a:p>
          <a:p>
            <a:pPr algn="just">
              <a:lnSpc>
                <a:spcPct val="150000"/>
              </a:lnSpc>
              <a:buFont typeface="Wingdings" pitchFamily="2" charset="2"/>
              <a:buChar char="ü"/>
            </a:pPr>
            <a:endParaRPr lang="en-US" sz="2200" dirty="0">
              <a:latin typeface="Times New Roman" pitchFamily="18" charset="0"/>
              <a:cs typeface="Times New Roman" pitchFamily="18" charset="0"/>
            </a:endParaRPr>
          </a:p>
          <a:p>
            <a:pPr algn="just">
              <a:lnSpc>
                <a:spcPct val="150000"/>
              </a:lnSpc>
              <a:buFont typeface="Wingdings" pitchFamily="2" charset="2"/>
              <a:buChar char="ü"/>
            </a:pPr>
            <a:r>
              <a:rPr lang="en-US" sz="2200" dirty="0">
                <a:latin typeface="Times New Roman" pitchFamily="18" charset="0"/>
                <a:cs typeface="Times New Roman" pitchFamily="18" charset="0"/>
              </a:rPr>
              <a:t>Third, register-oriented instructions operate faster than memory-oriented instructions since the computer hardware can access a register much faster than a memory location. </a:t>
            </a:r>
          </a:p>
        </p:txBody>
      </p:sp>
    </p:spTree>
    <p:extLst>
      <p:ext uri="{BB962C8B-B14F-4D97-AF65-F5344CB8AC3E}">
        <p14:creationId xmlns:p14="http://schemas.microsoft.com/office/powerpoint/2010/main" val="3461367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781800"/>
          </a:xfrm>
        </p:spPr>
        <p:txBody>
          <a:bodyPr>
            <a:noAutofit/>
          </a:bodyPr>
          <a:lstStyle/>
          <a:p>
            <a:pPr marL="0" indent="0">
              <a:lnSpc>
                <a:spcPct val="120000"/>
              </a:lnSpc>
              <a:buNone/>
            </a:pPr>
            <a:r>
              <a:rPr lang="en-US" sz="2000" dirty="0">
                <a:latin typeface="Times New Roman" pitchFamily="18" charset="0"/>
                <a:cs typeface="Times New Roman" pitchFamily="18" charset="0"/>
              </a:rPr>
              <a:t>Here is a list of the registers and their uses: </a:t>
            </a:r>
          </a:p>
          <a:p>
            <a:pPr marL="0" indent="0">
              <a:lnSpc>
                <a:spcPct val="120000"/>
              </a:lnSpc>
              <a:buNone/>
            </a:pPr>
            <a:r>
              <a:rPr lang="en-US" sz="2000" dirty="0">
                <a:latin typeface="Times New Roman" pitchFamily="18" charset="0"/>
                <a:cs typeface="Times New Roman" pitchFamily="18" charset="0"/>
              </a:rPr>
              <a:t>1. AX - The accumulator </a:t>
            </a:r>
          </a:p>
          <a:p>
            <a:pPr marL="0" indent="0">
              <a:lnSpc>
                <a:spcPct val="120000"/>
              </a:lnSpc>
              <a:buNone/>
            </a:pPr>
            <a:r>
              <a:rPr lang="en-US" sz="2000" dirty="0">
                <a:latin typeface="Times New Roman" pitchFamily="18" charset="0"/>
                <a:cs typeface="Times New Roman" pitchFamily="18" charset="0"/>
              </a:rPr>
              <a:t>2. BX - The pointer register </a:t>
            </a:r>
          </a:p>
          <a:p>
            <a:pPr marL="0" indent="0">
              <a:lnSpc>
                <a:spcPct val="120000"/>
              </a:lnSpc>
              <a:buNone/>
            </a:pPr>
            <a:r>
              <a:rPr lang="en-US" sz="2000" dirty="0">
                <a:latin typeface="Times New Roman" pitchFamily="18" charset="0"/>
                <a:cs typeface="Times New Roman" pitchFamily="18" charset="0"/>
              </a:rPr>
              <a:t>3. CX- The loop counter </a:t>
            </a:r>
          </a:p>
          <a:p>
            <a:pPr marL="0" indent="0">
              <a:lnSpc>
                <a:spcPct val="120000"/>
              </a:lnSpc>
              <a:buNone/>
            </a:pPr>
            <a:r>
              <a:rPr lang="en-US" sz="2000" dirty="0">
                <a:latin typeface="Times New Roman" pitchFamily="18" charset="0"/>
                <a:cs typeface="Times New Roman" pitchFamily="18" charset="0"/>
              </a:rPr>
              <a:t>4. DX- Used for multiplication and division </a:t>
            </a:r>
          </a:p>
          <a:p>
            <a:pPr marL="0" indent="0">
              <a:lnSpc>
                <a:spcPct val="120000"/>
              </a:lnSpc>
              <a:buNone/>
            </a:pPr>
            <a:r>
              <a:rPr lang="en-US" sz="2000" dirty="0">
                <a:latin typeface="Times New Roman" pitchFamily="18" charset="0"/>
                <a:cs typeface="Times New Roman" pitchFamily="18" charset="0"/>
              </a:rPr>
              <a:t>5. SI- The "source" string index register </a:t>
            </a:r>
          </a:p>
          <a:p>
            <a:pPr marL="0" indent="0">
              <a:lnSpc>
                <a:spcPct val="120000"/>
              </a:lnSpc>
              <a:buNone/>
            </a:pPr>
            <a:r>
              <a:rPr lang="en-US" sz="2000" dirty="0">
                <a:latin typeface="Times New Roman" pitchFamily="18" charset="0"/>
                <a:cs typeface="Times New Roman" pitchFamily="18" charset="0"/>
              </a:rPr>
              <a:t>6. DI -The "destination" string index register </a:t>
            </a:r>
          </a:p>
          <a:p>
            <a:pPr marL="0" indent="0">
              <a:lnSpc>
                <a:spcPct val="120000"/>
              </a:lnSpc>
              <a:buNone/>
            </a:pPr>
            <a:r>
              <a:rPr lang="en-US" sz="2000" dirty="0">
                <a:latin typeface="Times New Roman" pitchFamily="18" charset="0"/>
                <a:cs typeface="Times New Roman" pitchFamily="18" charset="0"/>
              </a:rPr>
              <a:t>7. BP- Used for passing arguments on the stack </a:t>
            </a:r>
          </a:p>
          <a:p>
            <a:pPr marL="0" indent="0">
              <a:lnSpc>
                <a:spcPct val="120000"/>
              </a:lnSpc>
              <a:buNone/>
            </a:pPr>
            <a:r>
              <a:rPr lang="en-US" sz="2000" i="1" dirty="0">
                <a:latin typeface="Times New Roman" pitchFamily="18" charset="0"/>
                <a:cs typeface="Times New Roman" pitchFamily="18" charset="0"/>
              </a:rPr>
              <a:t>8. SP- The stack pointer </a:t>
            </a:r>
            <a:endParaRPr lang="en-US" sz="2000" dirty="0">
              <a:latin typeface="Times New Roman" pitchFamily="18" charset="0"/>
              <a:cs typeface="Times New Roman" pitchFamily="18" charset="0"/>
            </a:endParaRPr>
          </a:p>
          <a:p>
            <a:pPr marL="0" indent="0">
              <a:lnSpc>
                <a:spcPct val="120000"/>
              </a:lnSpc>
              <a:buNone/>
            </a:pPr>
            <a:r>
              <a:rPr lang="en-US" sz="2000" i="1" dirty="0">
                <a:latin typeface="Times New Roman" pitchFamily="18" charset="0"/>
                <a:cs typeface="Times New Roman" pitchFamily="18" charset="0"/>
              </a:rPr>
              <a:t>9. IP -The instruction pointer </a:t>
            </a:r>
            <a:endParaRPr lang="en-US" sz="2000" dirty="0">
              <a:latin typeface="Times New Roman" pitchFamily="18" charset="0"/>
              <a:cs typeface="Times New Roman" pitchFamily="18" charset="0"/>
            </a:endParaRPr>
          </a:p>
          <a:p>
            <a:pPr marL="0" indent="0">
              <a:lnSpc>
                <a:spcPct val="120000"/>
              </a:lnSpc>
              <a:buNone/>
            </a:pPr>
            <a:r>
              <a:rPr lang="en-US" sz="2000" i="1" dirty="0">
                <a:latin typeface="Times New Roman" pitchFamily="18" charset="0"/>
                <a:cs typeface="Times New Roman" pitchFamily="18" charset="0"/>
              </a:rPr>
              <a:t>10. CS- The "code segment" register </a:t>
            </a:r>
            <a:endParaRPr lang="en-US" sz="2000" dirty="0">
              <a:latin typeface="Times New Roman" pitchFamily="18" charset="0"/>
              <a:cs typeface="Times New Roman" pitchFamily="18" charset="0"/>
            </a:endParaRPr>
          </a:p>
          <a:p>
            <a:pPr marL="0" indent="0">
              <a:lnSpc>
                <a:spcPct val="120000"/>
              </a:lnSpc>
              <a:buNone/>
            </a:pPr>
            <a:r>
              <a:rPr lang="en-US" sz="2000" dirty="0">
                <a:latin typeface="Times New Roman" pitchFamily="18" charset="0"/>
                <a:cs typeface="Times New Roman" pitchFamily="18" charset="0"/>
              </a:rPr>
              <a:t>11. DS -The "data segment" register </a:t>
            </a:r>
          </a:p>
          <a:p>
            <a:pPr marL="0" indent="0">
              <a:lnSpc>
                <a:spcPct val="120000"/>
              </a:lnSpc>
              <a:buNone/>
            </a:pPr>
            <a:r>
              <a:rPr lang="en-US" sz="2000" i="1" dirty="0">
                <a:latin typeface="Times New Roman" pitchFamily="18" charset="0"/>
                <a:cs typeface="Times New Roman" pitchFamily="18" charset="0"/>
              </a:rPr>
              <a:t>12. SS -The "stack segment" register </a:t>
            </a:r>
            <a:endParaRPr lang="en-US" sz="2000" dirty="0">
              <a:latin typeface="Times New Roman" pitchFamily="18" charset="0"/>
              <a:cs typeface="Times New Roman" pitchFamily="18" charset="0"/>
            </a:endParaRPr>
          </a:p>
          <a:p>
            <a:pPr marL="0" indent="0">
              <a:lnSpc>
                <a:spcPct val="120000"/>
              </a:lnSpc>
              <a:buNone/>
            </a:pPr>
            <a:r>
              <a:rPr lang="en-US" sz="2000" i="1" dirty="0">
                <a:latin typeface="Times New Roman" pitchFamily="18" charset="0"/>
                <a:cs typeface="Times New Roman" pitchFamily="18" charset="0"/>
              </a:rPr>
              <a:t>13. ES- The "extra segment" register </a:t>
            </a:r>
            <a:endParaRPr lang="en-US" sz="2000" dirty="0">
              <a:latin typeface="Times New Roman" pitchFamily="18" charset="0"/>
              <a:cs typeface="Times New Roman" pitchFamily="18" charset="0"/>
            </a:endParaRPr>
          </a:p>
          <a:p>
            <a:pPr marL="0" indent="0">
              <a:lnSpc>
                <a:spcPct val="120000"/>
              </a:lnSpc>
              <a:buNone/>
            </a:pPr>
            <a:r>
              <a:rPr lang="en-US" sz="2000" i="1" dirty="0">
                <a:latin typeface="Times New Roman" pitchFamily="18" charset="0"/>
                <a:cs typeface="Times New Roman" pitchFamily="18" charset="0"/>
              </a:rPr>
              <a:t>14. FLAG- The flag register </a:t>
            </a:r>
            <a:endParaRPr lang="en-US" sz="2000" dirty="0">
              <a:latin typeface="Times New Roman" pitchFamily="18" charset="0"/>
              <a:cs typeface="Times New Roman" pitchFamily="18" charset="0"/>
            </a:endParaRPr>
          </a:p>
          <a:p>
            <a:pPr marL="0" indent="0">
              <a:lnSpc>
                <a:spcPct val="120000"/>
              </a:lnSpc>
              <a:buNone/>
            </a:pPr>
            <a:endParaRPr lang="en-US" sz="2000" dirty="0"/>
          </a:p>
        </p:txBody>
      </p:sp>
    </p:spTree>
    <p:extLst>
      <p:ext uri="{BB962C8B-B14F-4D97-AF65-F5344CB8AC3E}">
        <p14:creationId xmlns:p14="http://schemas.microsoft.com/office/powerpoint/2010/main" val="3955567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
            <a:ext cx="8915400" cy="6049963"/>
          </a:xfrm>
        </p:spPr>
        <p:txBody>
          <a:bodyPr>
            <a:normAutofit/>
          </a:bodyPr>
          <a:lstStyle/>
          <a:p>
            <a:pPr marL="0" indent="0" algn="just">
              <a:lnSpc>
                <a:spcPct val="200000"/>
              </a:lnSpc>
              <a:buNone/>
            </a:pPr>
            <a:r>
              <a:rPr lang="en-US" sz="2400" dirty="0">
                <a:latin typeface="Times New Roman" pitchFamily="18" charset="0"/>
                <a:cs typeface="Times New Roman" pitchFamily="18" charset="0"/>
              </a:rPr>
              <a:t>The first seven registers might reasonably be called "general purpose" registers since they can be used rather flexibly to manipulate word values until (or unless) their special functions are needed. AX, BX, CX, and DX are more flexible than the others in that they may be used either as word registers (containing 16-bit values) or as pairs of byte registers (containing 8-bit values). </a:t>
            </a:r>
          </a:p>
        </p:txBody>
      </p:sp>
    </p:spTree>
    <p:extLst>
      <p:ext uri="{BB962C8B-B14F-4D97-AF65-F5344CB8AC3E}">
        <p14:creationId xmlns:p14="http://schemas.microsoft.com/office/powerpoint/2010/main" val="10531947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674</Words>
  <Application>Microsoft Office PowerPoint</Application>
  <PresentationFormat>On-screen Show (4:3)</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Times New Roman</vt:lpstr>
      <vt:lpstr>Wingdings</vt:lpstr>
      <vt:lpstr>Office Theme</vt:lpstr>
      <vt:lpstr>PROCESS OF ASSEMBLY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 OF ASSEMBLY</dc:title>
  <dc:creator>OGAH</dc:creator>
  <cp:lastModifiedBy>KPONKIUS</cp:lastModifiedBy>
  <cp:revision>12</cp:revision>
  <dcterms:created xsi:type="dcterms:W3CDTF">2023-07-11T11:28:57Z</dcterms:created>
  <dcterms:modified xsi:type="dcterms:W3CDTF">2023-09-15T15:12:49Z</dcterms:modified>
</cp:coreProperties>
</file>